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2b7e567f974f84" /><Relationship Type="http://schemas.openxmlformats.org/officeDocument/2006/relationships/extended-properties" Target="/docProps/app.xml" Id="R61d9dc0600b6486c" /><Relationship Type="http://schemas.openxmlformats.org/officeDocument/2006/relationships/officeDocument" Target="/ppt/presentation.xml" Id="R8c66421d4eb549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f3e9b8807f4a22"/>
  </p:sldMasterIdLst>
  <p:notesMasterIdLst>
    <p:notesMasterId xmlns:r="http://schemas.openxmlformats.org/officeDocument/2006/relationships" r:id="R6184bfae15c64c46"/>
  </p:notesMasterIdLst>
  <p:sldIdLst>
    <p:sldId xmlns:r="http://schemas.openxmlformats.org/officeDocument/2006/relationships" id="256" r:id="R6bf26ca263c64972"/>
    <p:sldId xmlns:r="http://schemas.openxmlformats.org/officeDocument/2006/relationships" id="257" r:id="Raf03505699384b01"/>
    <p:sldId xmlns:r="http://schemas.openxmlformats.org/officeDocument/2006/relationships" id="258" r:id="Raa5d765d129a4f54"/>
    <p:sldId xmlns:r="http://schemas.openxmlformats.org/officeDocument/2006/relationships" id="259" r:id="Rff82576489e445a8"/>
    <p:sldId xmlns:r="http://schemas.openxmlformats.org/officeDocument/2006/relationships" id="260" r:id="R9e580f458fa34996"/>
    <p:sldId xmlns:r="http://schemas.openxmlformats.org/officeDocument/2006/relationships" id="261" r:id="Rfa1a42ae53c54fdd"/>
    <p:sldId xmlns:r="http://schemas.openxmlformats.org/officeDocument/2006/relationships" id="262" r:id="R1121d17da1174f93"/>
    <p:sldId xmlns:r="http://schemas.openxmlformats.org/officeDocument/2006/relationships" id="263" r:id="Rc76d4901d7254048"/>
    <p:sldId xmlns:r="http://schemas.openxmlformats.org/officeDocument/2006/relationships" id="264" r:id="Raa685c55b0714587"/>
    <p:sldId xmlns:r="http://schemas.openxmlformats.org/officeDocument/2006/relationships" id="265" r:id="R1e50fd05f0674f00"/>
    <p:sldId xmlns:r="http://schemas.openxmlformats.org/officeDocument/2006/relationships" id="266" r:id="R71588a74bcb44e35"/>
    <p:sldId xmlns:r="http://schemas.openxmlformats.org/officeDocument/2006/relationships" id="267" r:id="R020fec02c6614301"/>
    <p:sldId xmlns:r="http://schemas.openxmlformats.org/officeDocument/2006/relationships" id="268" r:id="R61f2b8b5fbc44fc3"/>
    <p:sldId xmlns:r="http://schemas.openxmlformats.org/officeDocument/2006/relationships" id="269" r:id="Rd98fb3bea11c4e43"/>
    <p:sldId xmlns:r="http://schemas.openxmlformats.org/officeDocument/2006/relationships" id="270" r:id="Reb768ad163c54a97"/>
    <p:sldId xmlns:r="http://schemas.openxmlformats.org/officeDocument/2006/relationships" id="271" r:id="R35253747db7240b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f3e9b8807f4a22" /><Relationship Type="http://schemas.openxmlformats.org/officeDocument/2006/relationships/theme" Target="/ppt/theme/theme1.xml" Id="Rb3b0b5bacd62411d" /><Relationship Type="http://schemas.openxmlformats.org/officeDocument/2006/relationships/notesMaster" Target="/ppt/notesMasters/notesMaster1.xml" Id="R6184bfae15c64c46" /><Relationship Type="http://schemas.openxmlformats.org/officeDocument/2006/relationships/presProps" Target="/ppt/presProps.xml" Id="Ra2aee1f220b54ef7" /><Relationship Type="http://schemas.openxmlformats.org/officeDocument/2006/relationships/viewProps" Target="/ppt/viewProps.xml" Id="R5153fa849bee497a" /><Relationship Type="http://schemas.openxmlformats.org/officeDocument/2006/relationships/tableStyles" Target="/ppt/tableStyles.xml" Id="Rb5f0f1ec290f4942" /><Relationship Type="http://schemas.openxmlformats.org/officeDocument/2006/relationships/slide" Target="/ppt/slides/slide1.xml" Id="R6bf26ca263c64972" /><Relationship Type="http://schemas.openxmlformats.org/officeDocument/2006/relationships/slide" Target="/ppt/slides/slide2.xml" Id="Raf03505699384b01" /><Relationship Type="http://schemas.openxmlformats.org/officeDocument/2006/relationships/slide" Target="/ppt/slides/slide3.xml" Id="Raa5d765d129a4f54" /><Relationship Type="http://schemas.openxmlformats.org/officeDocument/2006/relationships/slide" Target="/ppt/slides/slide4.xml" Id="Rff82576489e445a8" /><Relationship Type="http://schemas.openxmlformats.org/officeDocument/2006/relationships/slide" Target="/ppt/slides/slide5.xml" Id="R9e580f458fa34996" /><Relationship Type="http://schemas.openxmlformats.org/officeDocument/2006/relationships/slide" Target="/ppt/slides/slide6.xml" Id="Rfa1a42ae53c54fdd" /><Relationship Type="http://schemas.openxmlformats.org/officeDocument/2006/relationships/slide" Target="/ppt/slides/slide7.xml" Id="R1121d17da1174f93" /><Relationship Type="http://schemas.openxmlformats.org/officeDocument/2006/relationships/slide" Target="/ppt/slides/slide8.xml" Id="Rc76d4901d7254048" /><Relationship Type="http://schemas.openxmlformats.org/officeDocument/2006/relationships/slide" Target="/ppt/slides/slide9.xml" Id="Raa685c55b0714587" /><Relationship Type="http://schemas.openxmlformats.org/officeDocument/2006/relationships/slide" Target="/ppt/slides/slide10.xml" Id="R1e50fd05f0674f00" /><Relationship Type="http://schemas.openxmlformats.org/officeDocument/2006/relationships/slide" Target="/ppt/slides/slide11.xml" Id="R71588a74bcb44e35" /><Relationship Type="http://schemas.openxmlformats.org/officeDocument/2006/relationships/slide" Target="/ppt/slides/slide12.xml" Id="R020fec02c6614301" /><Relationship Type="http://schemas.openxmlformats.org/officeDocument/2006/relationships/slide" Target="/ppt/slides/slide13.xml" Id="R61f2b8b5fbc44fc3" /><Relationship Type="http://schemas.openxmlformats.org/officeDocument/2006/relationships/slide" Target="/ppt/slides/slide14.xml" Id="Rd98fb3bea11c4e43" /><Relationship Type="http://schemas.openxmlformats.org/officeDocument/2006/relationships/slide" Target="/ppt/slides/slide15.xml" Id="Reb768ad163c54a97" /><Relationship Type="http://schemas.openxmlformats.org/officeDocument/2006/relationships/slide" Target="/ppt/slides/slide16.xml" Id="R35253747db7240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55594ae00db42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6f3faf8f0247a2" /><Relationship Type="http://schemas.openxmlformats.org/officeDocument/2006/relationships/notesMaster" Target="/ppt/notesMasters/notesMaster1.xml" Id="Re4da8b36e45a4a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0f912277c34c6f" /><Relationship Type="http://schemas.openxmlformats.org/officeDocument/2006/relationships/notesMaster" Target="/ppt/notesMasters/notesMaster1.xml" Id="R761deeb47e0a48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a55b3a69be4d88" /><Relationship Type="http://schemas.openxmlformats.org/officeDocument/2006/relationships/notesMaster" Target="/ppt/notesMasters/notesMaster1.xml" Id="Reeed7e309e2044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d4851926e84264" /><Relationship Type="http://schemas.openxmlformats.org/officeDocument/2006/relationships/notesMaster" Target="/ppt/notesMasters/notesMaster1.xml" Id="R9db21f54ddb34a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e9dccfa230477c" /><Relationship Type="http://schemas.openxmlformats.org/officeDocument/2006/relationships/notesMaster" Target="/ppt/notesMasters/notesMaster1.xml" Id="Rb97ddc800a5d40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32f108f6f741bb" /><Relationship Type="http://schemas.openxmlformats.org/officeDocument/2006/relationships/notesMaster" Target="/ppt/notesMasters/notesMaster1.xml" Id="Rec7cf0c65af24c8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04a665560e4eb8" /><Relationship Type="http://schemas.openxmlformats.org/officeDocument/2006/relationships/notesMaster" Target="/ppt/notesMasters/notesMaster1.xml" Id="R72692c8c50054be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5b25b2ad8549c8" /><Relationship Type="http://schemas.openxmlformats.org/officeDocument/2006/relationships/notesMaster" Target="/ppt/notesMasters/notesMaster1.xml" Id="R11fafc9467da471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cf0d31836b04a74" /><Relationship Type="http://schemas.openxmlformats.org/officeDocument/2006/relationships/notesMaster" Target="/ppt/notesMasters/notesMaster1.xml" Id="R0adb74645bd644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9e4925baf104afa" /><Relationship Type="http://schemas.openxmlformats.org/officeDocument/2006/relationships/notesMaster" Target="/ppt/notesMasters/notesMaster1.xml" Id="R7a6582cf70d94a4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a4e94301fc2412d" /><Relationship Type="http://schemas.openxmlformats.org/officeDocument/2006/relationships/notesMaster" Target="/ppt/notesMasters/notesMaster1.xml" Id="R1c59994623d9407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a782929e8d54c82" /><Relationship Type="http://schemas.openxmlformats.org/officeDocument/2006/relationships/notesMaster" Target="/ppt/notesMasters/notesMaster1.xml" Id="R0a6a029d92a7412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89bdb372e014d22" /><Relationship Type="http://schemas.openxmlformats.org/officeDocument/2006/relationships/notesMaster" Target="/ppt/notesMasters/notesMaster1.xml" Id="R851280dfe723405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aa078a3a04c4bba" /><Relationship Type="http://schemas.openxmlformats.org/officeDocument/2006/relationships/notesMaster" Target="/ppt/notesMasters/notesMaster1.xml" Id="R55a2a89ad71b400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823fb7abde6433c" /><Relationship Type="http://schemas.openxmlformats.org/officeDocument/2006/relationships/notesMaster" Target="/ppt/notesMasters/notesMaster1.xml" Id="R984215eddf6a489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c5501d0c6fe4c01" /><Relationship Type="http://schemas.openxmlformats.org/officeDocument/2006/relationships/notesMaster" Target="/ppt/notesMasters/notesMaster1.xml" Id="R0d44aaa6b8ed4b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706af93381478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b57ab28b52a4068" /><Relationship Type="http://schemas.openxmlformats.org/officeDocument/2006/relationships/slideLayout" Target="/ppt/slideLayouts/slideLayout2.xml" Id="R86cbe01e1cfe49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cbe01e1cfe49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6267b98d844f00" /><Relationship Type="http://schemas.openxmlformats.org/officeDocument/2006/relationships/notesSlide" Target="/ppt/notesSlides/notesSlide1.xml" Id="R72776d7ed13940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98fa3d383149ef" /><Relationship Type="http://schemas.openxmlformats.org/officeDocument/2006/relationships/notesSlide" Target="/ppt/notesSlides/notesSlide2.xml" Id="Rcf06b2b2e81240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02c3a04082455f" /><Relationship Type="http://schemas.openxmlformats.org/officeDocument/2006/relationships/notesSlide" Target="/ppt/notesSlides/notesSlide3.xml" Id="R9b7f9d71202c42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24902163224b49" /><Relationship Type="http://schemas.openxmlformats.org/officeDocument/2006/relationships/notesSlide" Target="/ppt/notesSlides/notesSlide4.xml" Id="R512b338ac7c94f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bd6b96e6db412b" /><Relationship Type="http://schemas.openxmlformats.org/officeDocument/2006/relationships/notesSlide" Target="/ppt/notesSlides/notesSlide5.xml" Id="R49ebf44d479843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18e5a0217f4f26" /><Relationship Type="http://schemas.openxmlformats.org/officeDocument/2006/relationships/image" Target="/ppt/media/image.png" Id="R49215b8fa5754ae4" /><Relationship Type="http://schemas.openxmlformats.org/officeDocument/2006/relationships/notesSlide" Target="/ppt/notesSlides/notesSlide6.xml" Id="R1ec48e897b7147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b69dc6383e4de6" /><Relationship Type="http://schemas.openxmlformats.org/officeDocument/2006/relationships/notesSlide" Target="/ppt/notesSlides/notesSlide7.xml" Id="Re568faf7f2a44f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c1628a45a54f02" /><Relationship Type="http://schemas.openxmlformats.org/officeDocument/2006/relationships/notesSlide" Target="/ppt/notesSlides/notesSlide8.xml" Id="R11557d3ca08043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d28780acf545f9" /><Relationship Type="http://schemas.openxmlformats.org/officeDocument/2006/relationships/notesSlide" Target="/ppt/notesSlides/notesSlide9.xml" Id="Rba8eabd9440b4e2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668c450a1c46eb" /><Relationship Type="http://schemas.openxmlformats.org/officeDocument/2006/relationships/image" Target="/ppt/media/image2.png" Id="Ra8fa5b8d4f3048ba" /><Relationship Type="http://schemas.openxmlformats.org/officeDocument/2006/relationships/notesSlide" Target="/ppt/notesSlides/notesSlide10.xml" Id="Ra8840a54cd5544b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44d2432850408b" /><Relationship Type="http://schemas.openxmlformats.org/officeDocument/2006/relationships/notesSlide" Target="/ppt/notesSlides/notesSlide11.xml" Id="Rea021b28c44a4c2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6249946be34e74" /><Relationship Type="http://schemas.openxmlformats.org/officeDocument/2006/relationships/image" Target="/ppt/media/image3.png" Id="Rffce6dc0b53c4857" /><Relationship Type="http://schemas.openxmlformats.org/officeDocument/2006/relationships/notesSlide" Target="/ppt/notesSlides/notesSlide12.xml" Id="Ra75526f9173742a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64dc66160344c5" /><Relationship Type="http://schemas.openxmlformats.org/officeDocument/2006/relationships/notesSlide" Target="/ppt/notesSlides/notesSlide13.xml" Id="R2781c5a7283242e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76573484cd4996" /><Relationship Type="http://schemas.openxmlformats.org/officeDocument/2006/relationships/notesSlide" Target="/ppt/notesSlides/notesSlide14.xml" Id="Ra1f4a08d2d0f405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09e48bd7904dc0" /><Relationship Type="http://schemas.openxmlformats.org/officeDocument/2006/relationships/notesSlide" Target="/ppt/notesSlides/notesSlide15.xml" Id="R28f56a95c2764f3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14aef21b784118" /><Relationship Type="http://schemas.openxmlformats.org/officeDocument/2006/relationships/notesSlide" Target="/ppt/notesSlides/notesSlide16.xml" Id="Ra64e51d4cbc44d9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A62E38-4263-4342-91D4-D04F4107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4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91D625-D0DD-4827-8F00-01D18777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E1726"/>
              </a:gs>
              <a:gs pos="55000">
                <a:srgbClr val="31475A"/>
              </a:gs>
              <a:gs pos="100000">
                <a:srgbClr val="4B6B75"/>
              </a:gs>
            </a:gsLst>
            <a:lin ang="66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CB0F48-C020-4EAF-B8B5-7BD66F65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000125"/>
            <a:ext cx="3333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8FF">
              <a:alpha val="13333"/>
            </a:srgbClr>
          </a:solidFill>
          <a:ln xmlns:a="http://schemas.openxmlformats.org/drawingml/2006/main" w="19050">
            <a:solidFill>
              <a:srgbClr val="A9F0FF">
                <a:alpha val="53333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8E04F2-9547-4B99-9D43-6270EBAE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7630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E8F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E8F5"/>
                </a:solidFill>
                <a:latin typeface="Aptos"/>
                <a:ea typeface="Aptos"/>
                <a:cs typeface="Aptos"/>
              </a:rPr>
              <a:t>2026 COMPETITION PROPOSAL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202E1D-7C49-4D1D-A254-C17A5B78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59055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F4FAFF"/>
                </a:solidFill>
                <a:latin typeface="Aptos Display"/>
                <a:ea typeface="Aptos Display"/>
                <a:cs typeface="Aptos Display"/>
              </a:defRPr>
            </a:pPr>
            <a:r>
              <a:rPr sz="5550" b="1">
                <a:solidFill>
                  <a:srgbClr val="F4FAFF"/>
                </a:solidFill>
                <a:latin typeface="Aptos Display"/>
                <a:ea typeface="Aptos Display"/>
                <a:cs typeface="Aptos Display"/>
              </a:rPr>
              <a:t>AI Ready</a:t>
            </a:r>
          </a:p>
          <a:p xmlns:a="http://schemas.openxmlformats.org/drawingml/2006/main">
            <a:pPr algn="l">
              <a:defRPr sz="5550" b="1">
                <a:solidFill>
                  <a:srgbClr val="F4FAFF"/>
                </a:solidFill>
                <a:latin typeface="Aptos Display"/>
                <a:ea typeface="Aptos Display"/>
                <a:cs typeface="Aptos Display"/>
              </a:defRPr>
            </a:pPr>
            <a:r>
              <a:rPr sz="5550" b="1">
                <a:solidFill>
                  <a:srgbClr val="F4FAFF"/>
                </a:solidFill>
                <a:latin typeface="Aptos Display"/>
                <a:ea typeface="Aptos Display"/>
                <a:cs typeface="Aptos Display"/>
              </a:rPr>
              <a:t>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3EFD83-96A6-4034-8740-5D87F9E6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小勞鼠：資訊服務業勞動合規風險助手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1E8E4E-6456-4261-BB2C-3C665340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43375"/>
            <a:ext cx="38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9FF4EE-D670-442B-BF50-DCC59699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Hybrid RAG 驅動的職災與法遵風險作戰室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307079-BAC5-4960-A002-EE551FDC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5334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NO.57 咕咕嘎嘎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學校：國立中央大學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組員：孔祥儀、周佳穎、黃偉閎、吳育嫻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指導老師：劉子源</a:t>
            </a:r>
          </a:p>
        </p:txBody>
      </p:sp>
    </p:spTree>
    <p:extLst>
      <p:ext uri="{BB962C8B-B14F-4D97-AF65-F5344CB8AC3E}">
        <p14:creationId xmlns:p14="http://schemas.microsoft.com/office/powerpoint/2010/main" val="122221349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406A99-6DE3-4536-B518-3810C2AE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B156B2-A9FB-45B5-8768-A3AE0FEE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F5DF7E-A084-4088-8980-3EB35509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痛點與量化佐證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F277BF-D0EA-4008-9333-B4EC178D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9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風險已經發生在 HR、PM、管理層日常裡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B92526-3CE8-4826-A809-7A4A3CE0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3095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HR 人資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D96BED-988C-4F26-94B2-02A82CC9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309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0D8A54-C0B4-4AAB-833F-5B5237A9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3095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CBE94D-15E0-44E5-AF1F-1EEBE552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47925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痛點：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職災發生不知道 8 小時內要做什麼，資遣程序不確定是否合規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27CEED-06B7-410E-9990-3B5E89EF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3095625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7E2"/>
          </a:solidFill>
          <a:ln xmlns:a="http://schemas.openxmlformats.org/drawingml/2006/main" w="9525">
            <a:solidFill>
              <a:srgbClr val="FFE7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200910-F7EB-43CA-85F1-0353C282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338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C74432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C74432"/>
                </a:solidFill>
                <a:latin typeface="Aptos"/>
                <a:ea typeface="Aptos"/>
                <a:cs typeface="Aptos"/>
              </a:rPr>
              <a:t>3–30 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CA2021-766A-4660-8BD3-D6FD583F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767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漏報重大職災罰鍰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A3022E-6A92-4285-86D7-30DF2F00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71625"/>
            <a:ext cx="3095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PM 專案主管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58820E-1565-4D60-A8C3-1421F691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00250"/>
            <a:ext cx="309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AD6560-3909-426E-BAAB-C13F3380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47900"/>
            <a:ext cx="3095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26654A-AE4D-4DF0-A9C7-AAFB21DE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47925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痛點：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客戶端事故責任不清，專案趕工加班紀錄不足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802B95-0992-4912-ABA1-784DBD7B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429000"/>
            <a:ext cx="3095625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7E2"/>
          </a:solidFill>
          <a:ln xmlns:a="http://schemas.openxmlformats.org/drawingml/2006/main" w="9525">
            <a:solidFill>
              <a:srgbClr val="FFE7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0F0B30-CA4F-4F84-B78E-AA439840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7338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C74432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C74432"/>
                </a:solidFill>
                <a:latin typeface="Aptos"/>
                <a:ea typeface="Aptos"/>
                <a:cs typeface="Aptos"/>
              </a:rPr>
              <a:t>1,883 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88DAA6-59C5-49C0-82E9-6D8D277D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0767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違反加班費給付裁罰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E5FF25-48E2-4BA4-AA96-527CA33D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71625"/>
            <a:ext cx="3095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公司管理層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070431-6A9A-44D3-9C1D-3909F825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309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349751-DFFF-46A2-8B75-39609B66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47900"/>
            <a:ext cx="3095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5A9B95-E2E6-48AD-974F-81462863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47925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痛點：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不知道同業被罰什麼，勞檢來了措手不及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6104B9-F8D4-41CC-91B9-A6D0A77E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29000"/>
            <a:ext cx="3095625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7E2"/>
          </a:solidFill>
          <a:ln xmlns:a="http://schemas.openxmlformats.org/drawingml/2006/main" w="9525">
            <a:solidFill>
              <a:srgbClr val="FFE7E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AAE4B0-A6C7-4B57-9AC7-69EF99DF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338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C74432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C74432"/>
                </a:solidFill>
                <a:latin typeface="Aptos"/>
                <a:ea typeface="Aptos"/>
                <a:cs typeface="Aptos"/>
              </a:rPr>
              <a:t>1,114 家次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3CF9DF-2639-44EC-8A77-C7F5B362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0767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北市單年度開罰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D3E5D9-4DB2-40BD-9F4C-EC952BDE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721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9BB9B3-C259-4CE5-BCD2-D1D1BA09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772150"/>
            <a:ext cx="9963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HR：每年 6,000+ 件資遣費勞資爭議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77A572-7128-4BAB-BA90-AB34193C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0007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80C8DD-550B-4F86-B27B-587C22F7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6000750"/>
            <a:ext cx="9963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PM：加班費裁罰總額 6,200 萬，出勤紀錄最高罰 100 萬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2D5130-784E-4755-8C40-B802891B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2293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7B74F1-801F-4DD2-B1CB-1FD2C2B7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6229350"/>
            <a:ext cx="9963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管理層：北市單年度總罰鍰 7,545 萬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208850-BE80-4827-91A0-35AD4E2F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AI 是公司的「合規煙霧偵測器」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6E099D-7FEC-4D62-8AC8-1300907C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6B1C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6B1C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1416864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8B690D-259D-43E4-A5FA-E00A4560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1C7522-7332-430B-8CD0-F35AA861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66EB70-A5B5-4D12-9E4D-7D2AA2A8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解決方案：一個知識庫，兩種決策視角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7B7BC6-2AE8-468B-8074-B895E71A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9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同一事故，依身份輸出企業義務或勞工權益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429E9-A8AB-442A-8A27-DF5FCF48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3143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0C7FF1-C52C-4A89-96A1-70E2FF62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571625"/>
            <a:ext cx="3143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9BB8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1F4A21-200C-45D3-BBA7-97CB63DC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71625"/>
            <a:ext cx="3143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67FDC2-D7B5-4EF2-AF33-B8F40601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288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企業端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53E5D3-36B5-4DE4-82B1-F6862B85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2405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Hybrid RAG</a:t>
            </a:r>
          </a:p>
          <a:p xmlns:a="http://schemas.openxmlformats.org/drawingml/2006/main">
            <a:pPr algn="ctr">
              <a:defRPr sz="2175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共用知識庫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6DFB34-A9C5-461D-8DF8-FA079D9F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288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勞工端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D58127-1DDE-4880-A7B4-680126E2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8E3782-98BF-4FFD-8C0A-043BF043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76500"/>
            <a:ext cx="2152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公司現在該做什麼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0C976F-D4C8-448F-A8D1-88690234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EA27AE-7ADB-4ED9-90C0-BACA67E9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14650"/>
            <a:ext cx="2152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誰負責、少做會怎樣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399790-E7B7-4D1F-8053-EA7D3CDE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D84894-16F8-4A56-8A79-A19D55CB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52800"/>
            <a:ext cx="2152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需要哪些文件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923C9E-854E-4167-9268-F0544928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D0566B-B315-496C-B355-D7EECC5E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90950"/>
            <a:ext cx="2152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刑責 / 罰鍰 / 民事賠償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3C9AD6-C825-4372-A23A-A57AB690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90512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D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7D4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C16A06-E74C-4ECD-A292-B86E1C5D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05125"/>
            <a:ext cx="2247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VectorRAG 查法規原文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CBC07B-FAC8-44E0-9299-835DBB0A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6232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D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7D4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69CE56-3DD9-41AC-963E-46B749E8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62325"/>
            <a:ext cx="2247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GraphRAG 展開推理鏈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56487F-C5DD-4961-B39C-C1554FE1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81952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D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7D4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3BB614-776D-4B3E-A406-9CB59797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819525"/>
            <a:ext cx="2247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裁罰層支撐同業對標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7803C5-5774-4023-9FDF-09DF7B00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765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0509C2-61B4-473F-971D-0E1366A0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76500"/>
            <a:ext cx="2152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我能申請什麼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B22CE4-4FA1-4B0A-89A9-3E1AB37F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146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EEB804-F1C3-490C-A42F-D580FAFA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14650"/>
            <a:ext cx="2152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要準備什麼文件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D24B7A-DCF6-4182-B23A-54E6EFF2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528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7CF6FA-4552-490A-A0AD-EB1DDE64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52800"/>
            <a:ext cx="2152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申請期限與受理單位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B42E32-5287-451D-88C0-EAEF7958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909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266D7F-85E0-46ED-BB18-924728DA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90950"/>
            <a:ext cx="2152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申訴或調解路徑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C5D071-1B3E-4FB2-AA7A-B87622BB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715000"/>
            <a:ext cx="9048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法律顧問是救火隊，小勞鼠是合規煙霧偵測器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25255D-4863-47C5-86AF-56E0230F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6B1C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6B1C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4465390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16274B-39C8-4D81-86D7-FC166913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753765-386A-47DF-A744-22BBD2B8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94A331-BDBF-42EA-BFFE-D1F5DC8C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應用與使用情境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FEB607-B5E3-43AB-916D-F4A195F1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9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三個高頻決策入口，對應 IT 公司真實工作場景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88E10A-E1B0-4330-A1B5-3F8754AE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286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438EB6-D2B7-42A0-8034-DFB85ED8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47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D0376D-E51E-4681-9215-6A09D65A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933575"/>
            <a:ext cx="381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3A15E2-FFCC-418D-AAAF-87B1B2DA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857375"/>
            <a:ext cx="2238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應急導航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B00FBA-9F8C-44FF-B9E3-D7E39C64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384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D4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7D4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614101-8151-4456-BB76-D698660A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38400"/>
            <a:ext cx="24860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職災、客戶現場、IDC、通勤公出、不法侵害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2C59D5-8135-4462-9E9F-2B082E4B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384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D4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7D4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03BD55-0F14-449F-A036-EEBA69EF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24860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使用者：HR / PM / EHS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6366B6-6118-4E1D-8209-761DABE8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D4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7D4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DB4C0E-9249-4FDE-A16D-B86FF82D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8500"/>
            <a:ext cx="24860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輸出：事故判定、SOP、文件、罰則、刑責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F8CC74-C8F8-4BE1-BED6-4B833DE5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00200"/>
            <a:ext cx="3286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8B4106-D52F-4342-9B90-018DC598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847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FE6058-DEF8-4AFD-B97D-BD2BAA58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933575"/>
            <a:ext cx="381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F83BAE-A54D-4BD6-9A45-16F117E3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857375"/>
            <a:ext cx="2238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精準止損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490A60-D5E8-4122-BD48-96A59AFF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384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D4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7D4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947F12-29B0-4C6A-8894-5C020632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38400"/>
            <a:ext cx="24860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資遣 / 解僱前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B5B496-70A4-4717-8A07-3C833EC8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384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D4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7D4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B27757-0FE9-4A65-B143-A8058B17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38450"/>
            <a:ext cx="24860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使用者：HR / Legal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747996-2ACB-4F75-ADDE-809D1BA4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385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D4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7D4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77ABD3-12EE-4C57-8FBC-C39B5035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38500"/>
            <a:ext cx="24860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輸出：程序、期限、舉證、調解風險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85F9BE-A87F-4EE1-B54E-859ED184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00200"/>
            <a:ext cx="3286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9D9C32-55E5-4FC5-9C0F-CB97D4ED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847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CE358C-C552-425F-A831-1D24EF51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33575"/>
            <a:ext cx="381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92CCE8-F093-4400-9203-FE03BAA2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857375"/>
            <a:ext cx="2238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法規風險雷達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C3C8EC-D69C-488F-B3FE-C21A68CE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384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D4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7D4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E9EB5F-DCFE-43DD-AB54-FFEED2D3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38400"/>
            <a:ext cx="24860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勞檢前 / 年度內控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49D5DE-03CF-4B92-8C4F-83C88E42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384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D4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7D4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1E308D-D1D3-4AE9-A59E-4C7B8A0C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38450"/>
            <a:ext cx="24860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使用者：管理層 / HR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C90815-CB2B-4178-9EDE-2F02C298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385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D4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7D4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1E47DA-BCE0-49AC-A155-ADFEDD80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38500"/>
            <a:ext cx="24860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輸出：同業裁罰、法條熱點、改善建議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A8AB75-3336-4CA6-94EA-5A2C6D11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8953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0">
            <a:solidFill>
              <a:srgbClr val="DDF2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8DF5FA-83DE-427D-B647-F6C26C6D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543550"/>
            <a:ext cx="819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D4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F7D46"/>
                </a:solidFill>
                <a:latin typeface="Aptos"/>
                <a:ea typeface="Aptos"/>
                <a:cs typeface="Aptos"/>
              </a:rPr>
              <a:t>事故發生時，每小時都是罰款計時器；資遣不合規，調解輸了是天價；同業被罰什麼，就是你的下一個風險。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821169-627F-4D12-BE47-78D60AAB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6B1C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6B1C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7317463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978E9B-6037-47FD-A98A-1641D198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7E4A81-9E68-47F4-82FC-66AC738A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397059-4346-47C6-868F-14210ED0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傳統 LLM vs 小勞鼠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95872C-A56D-4573-B8E0-78344153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9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回應評審會問的問題：現在 LLM 這麼強，你們好在哪？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9E11CF-C98F-4F8B-AFC2-BAC52097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65B9CF-4303-4E17-8118-EF873889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52600"/>
            <a:ext cx="1657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比較項目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EA7EF5-FB84-4517-97A7-1938D0C7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7640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D5F742-0D80-427D-A784-FD860E45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752600"/>
            <a:ext cx="3276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一般 LLM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1E2FA8-E05D-4E5F-89B5-41646662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76400"/>
            <a:ext cx="476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0A1573-C7B7-4B7C-A75F-80B84B61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52600"/>
            <a:ext cx="4610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小勞鼠 Hybrid RAG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163A1D-C730-4268-AE68-5A12A96D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431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4156F8-3211-4FF1-ADB4-9AC27441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19350"/>
            <a:ext cx="1657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資料來源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88F8E0-A0B9-487F-A1CC-AE4C39D0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4315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CBB76E-77CA-4FF4-AB82-A9D97667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419350"/>
            <a:ext cx="3276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可能憑模型記憶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CD79BC-CD80-4131-98F3-74549F19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476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C3AE1F-649B-475A-B906-6CFCA6FF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19350"/>
            <a:ext cx="4610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官方 PDF + 裁罰 CSV + GraphRAG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170395-C02F-4B3F-8F1F-3349EAEB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990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6DB54C-F309-4C53-BDEA-9A7341A9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86100"/>
            <a:ext cx="1657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推理方式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C2CDC1-69D2-473F-98C6-6F1C1913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0990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411BD0-E5EB-458B-B1C5-85279291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86100"/>
            <a:ext cx="3276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文字回答為主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48A6C1-11BC-4D6E-9C41-C61F8CF8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9900"/>
            <a:ext cx="476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B0D69F-7A07-40E0-8147-C200FA64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86100"/>
            <a:ext cx="4610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事故 → 法規 → 義務 → 文件 → 罰則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1E10E9-C151-4D05-B0D8-3695566E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766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A3E9D3-73AD-436C-B18F-B403E35E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52850"/>
            <a:ext cx="1657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可追溯性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85899A-FC18-455C-89C2-66C082DB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7665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87B7C4-8091-467A-9285-E9A9A5C8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752850"/>
            <a:ext cx="3276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難確認依據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A67BF9-BF9D-44B2-9A85-B51A048E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76650"/>
            <a:ext cx="476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D5C9D2-40AA-4AE9-99DA-ABF8907C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52850"/>
            <a:ext cx="4610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可回到節點、法條、裁罰案例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4C2CD7-13F9-47CC-A30E-7733CC25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4340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953C27-2D15-4081-914B-0441A195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19600"/>
            <a:ext cx="1657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產業性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C4048F-6AB8-4F0C-98BB-6CC27718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4340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DBA13D-EEBE-4323-9C39-B7CC861B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419600"/>
            <a:ext cx="3276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泛用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138656-003A-4140-BEEE-8E295BB9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43400"/>
            <a:ext cx="476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936A3D-AB2B-4391-BF3A-47242745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19600"/>
            <a:ext cx="4610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專注資訊服務業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385C87-E6CF-43EF-BC01-E2E2F9BB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101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EDCD7B-B110-4834-96E6-16523880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86350"/>
            <a:ext cx="1657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輸出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CB6D05-3772-49D4-81B8-C5957194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1015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86A8BD-2208-473B-BF05-5757236F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086350"/>
            <a:ext cx="3276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一般建議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8AD0AEF-7F03-4228-BCDD-63CBDF5E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10150"/>
            <a:ext cx="476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726B5C4-2754-4A01-9123-42A3FD11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086350"/>
            <a:ext cx="4610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可執行 SOP / 風險清單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CEAE6F1-B350-4721-9BD2-15E52A7B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53125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核心差異：不是只答得出來，而是能把法條、義務、文件、罰則、刑責串成決策鏈。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E5C4B54-8172-42CC-B106-82CCF778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6B1C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6B1C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9482670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F2E8FB-53F5-4EE0-9A58-7E8C0CBF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6D8ABB-AAF3-43F5-9D10-3C02ADB3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267C34-E752-4882-AF80-966E0D96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技術架構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83E47C-4C5E-4B2D-93AA-40C5A958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9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直接使用專案既有架構圖，不重新生成流程圖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215b8fa5754ae4"/>
          <a:stretch xmlns:a="http://schemas.openxmlformats.org/drawingml/2006/main"/>
        </p:blipFill>
        <p:spPr>
          <a:xfrm xmlns:a="http://schemas.openxmlformats.org/drawingml/2006/main">
            <a:off x="3317875" y="457200"/>
            <a:ext cx="7747000" cy="5810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E2BC1B-EC7F-43B8-8814-6E7F2A8E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資料來源</a:t>
            </a:r>
          </a:p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→ 清洗處理</a:t>
            </a:r>
          </a:p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→ Gemini Data EAP</a:t>
            </a:r>
          </a:p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→ 三情境應用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9CB040-4984-473B-AFF3-06CD471C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8CF31B-29EA-422C-B0C6-47A06E11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81250"/>
            <a:ext cx="1581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VectorRAG 處理 PDF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6FA8A0-1EF4-407A-9C6A-2CDA19BF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E364F9-7380-47BB-9EE0-C7702258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1581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GraphRAG 處理義務 / 權益 / 文件 / 罰則 / 刑責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B73A3F-AF18-4031-BF07-681E3BEF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ED67CB-3429-4B12-861F-BB7FFF27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33750"/>
            <a:ext cx="1581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Robot Setting 控制三情境回答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77CD8C-6070-4EDC-B7FE-D2AC3D1B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2C94BA-3E6F-42F7-A64E-47573D2C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0000"/>
            <a:ext cx="1581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裁罰風險層支撐同業對標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6A868E-4487-4B21-8B2B-22768A3A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6B1C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6B1C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9346365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C26342-6394-48E6-AA5E-1CC95E4A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350191-9410-479C-A6F9-DDD3D5D7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25013B-A39F-4A5F-89E1-35399EB5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結構化資料一：資料收集與處理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8D94E1-3B7A-418A-ACD6-151989AA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9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GraphRAG 把法規知識變成可遍歷的推理鏈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89E5BD-A107-4EA7-8E50-A4B55BF4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44AD4-0076-4C26-9A9F-60D3F5A9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資料來源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9BFD29-F93D-42C2-AEFD-BCEDE268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09750"/>
            <a:ext cx="161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FB94FB-E9F1-48FA-B12C-55CAFD75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85950"/>
            <a:ext cx="146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取得方式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B1CDD6-B7D7-47A0-BA85-B5CB4AE9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114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6C4366-BBE7-4320-9127-B46D9940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85950"/>
            <a:ext cx="990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筆數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597F25-DC0C-4064-8783-CA4E942A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09750"/>
            <a:ext cx="238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C172C6-6B85-4D5E-9364-E2B73459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885950"/>
            <a:ext cx="2228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用途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EDFF52-5A61-4040-8124-AD989851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FD9D47-CFF5-4E66-9DCE-324D22E0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LBR 勞動部裁罰公告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74FF39-E260-4A39-8293-08AAF600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161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A06D9E-5CA2-47F4-B4B1-1EE1C326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457450"/>
            <a:ext cx="146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Python 爬蟲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53DA56-94DA-47AC-9250-136BD7C2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114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3A4DC0-7013-44C5-934D-B6F44021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57450"/>
            <a:ext cx="990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32,111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3861CC-58BC-4991-838D-323D63FE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81250"/>
            <a:ext cx="238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B44A39-76C7-498D-ABF7-0B9D30CA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57450"/>
            <a:ext cx="2228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工資、工時、資遣裁罰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AB2B4C-56B0-4A77-87DF-2FD0F389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1EC15C-8F67-4F4D-89C9-8F27CCB1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OSHA 職安署案例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B451B7-F6D7-4CDC-AD38-0D56507A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52750"/>
            <a:ext cx="161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5E4AFC-8E95-42E1-B263-BAC99B5C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28950"/>
            <a:ext cx="146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Python 爬蟲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BDCF0C-A7AE-4C45-BFD7-DD3BA5B1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52750"/>
            <a:ext cx="114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6B545D-0BE1-4692-A980-0E5CFAF6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28950"/>
            <a:ext cx="990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475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21473C-9418-42D0-88F6-B8FD9FEC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52750"/>
            <a:ext cx="238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CA8042-9173-4409-B323-17BE7D7D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28950"/>
            <a:ext cx="2228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職安案例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82E329-22B7-4BCD-86D3-D372BC74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E3423E-8DF6-4091-979D-1BA78BA9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勞退條例裁罰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5C5247-A0EB-4F41-A9A4-6714FE3C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24250"/>
            <a:ext cx="161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1DEFA0-A233-479F-8AAB-0B634C5F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600450"/>
            <a:ext cx="146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Open Data CSV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F3234A-E750-4CED-8DCC-1BDD2DD8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24250"/>
            <a:ext cx="114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0729DF-DB31-48F0-8F24-A6BD0E88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00450"/>
            <a:ext cx="990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9,427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945D47-AFD6-44FF-93C1-5423C65F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24250"/>
            <a:ext cx="238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4C2391-6AA5-4E71-B110-2EA19D2C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600450"/>
            <a:ext cx="2228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勞退義務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7DEA1E-A503-4301-A32B-61F447E0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F9BFE37-6E70-4AF2-AB44-B76BD0E6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災保法裁罰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73C1940-B2CB-4458-B149-DBC85BAD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95750"/>
            <a:ext cx="161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4241659-65BF-48DA-B837-0D64A26D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171950"/>
            <a:ext cx="146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Open Data CSV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982CE30-51A5-4C8A-ACD9-39715C33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95750"/>
            <a:ext cx="114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8F2F263-6C17-4E67-AAB2-C14BA30B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71950"/>
            <a:ext cx="990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16,483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DB87616-A4E6-4E2D-9C81-ABF017F4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95750"/>
            <a:ext cx="238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8CA9780-234F-4227-8942-54AA2D37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171950"/>
            <a:ext cx="2228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災保行政義務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15725A2-BA42-40AA-80A2-BF406D01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6FD029C-8994-4C0C-9E96-F2015662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合併清理版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C33DA34-D86C-4CD4-A42F-A6FC8E00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67250"/>
            <a:ext cx="161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65CF017-7FD7-409B-ABFC-BEF1FE1F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743450"/>
            <a:ext cx="146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自動化腳本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8C9B99C-CE77-4BAD-811C-A46729D8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67250"/>
            <a:ext cx="114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88E4729-45E9-4333-8E4B-BE674C62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743450"/>
            <a:ext cx="990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58,496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FF2B9E7-F970-46A7-BF26-9D06C1EA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67250"/>
            <a:ext cx="238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315AF42-3F67-4B55-9D97-CDE28976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743450"/>
            <a:ext cx="2228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風險雷達與同業對標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8EF9571-90BB-4E60-87B0-0DF8873E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處理流程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DB43500-777B-4327-B3B3-C5BC4947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812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BAB5F0B-0836-493D-A424-CC5C030F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4955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1. 多源採集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6F42CC2-9D4B-400B-A73B-A4EE38AC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0289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E800A52-ED73-4961-8FFE-A9A9B2EB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1432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2. 格式標準化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580053B-E9EF-462C-8F18-8A64955F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6766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6E398DB-1436-47CE-87BF-712BD3B2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7909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3. 關鍵字分類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3EDD461-1849-4F8F-986A-39146F85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3243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9364061-E0F9-4E3D-A7EC-3F520FD3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4386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4. 精選 603 筆案例入圖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614F334-224D-4211-9280-CD0FA21B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9720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B4E4DC9-0ADE-42C0-8063-838B9159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0863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D4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7D46"/>
                </a:solidFill>
                <a:latin typeface="Aptos"/>
                <a:ea typeface="Aptos"/>
                <a:cs typeface="Aptos"/>
              </a:rPr>
              <a:t>5. 匯入 GraphRAG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AB9158F-1F38-4CB9-8345-BEB4DE87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6B1C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6B1C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8154405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118761-A1AA-4A4D-B099-65FE05D3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E80A54-BB8F-4583-A39D-948E88C1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CB8B5B-CF50-441A-BED9-91546C3A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結構化資料二：知識圖譜建模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66D2CE-744C-4457-832A-C0DD1AB4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9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766 節點、2,410 邊、0 懸空邊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4568B5-171A-4180-AFE1-27E04136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ACEF96-A3FF-4A51-B888-123FCE36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00200"/>
            <a:ext cx="1847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節點類型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223B9A-0892-4DBD-9669-AA6F368C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240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AD3CAD-F2F7-4AA4-8A69-E8E154B2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600200"/>
            <a:ext cx="895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數量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3C20B0-2D15-4E7F-B2B6-6137EE2B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B0AD5B-9B17-4029-AC85-ABEFEBCD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1847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事故類型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B2B9BC-4316-4D22-A01C-EF0A6FFF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764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F96749-1F4C-41C7-99C1-F2DDA18D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152650"/>
            <a:ext cx="895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7C8D06-1D01-44A0-9468-F53CFC09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4F340A-4C66-48BB-8D39-90C6A121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1847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法規條文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3236D0-9C03-4025-9D00-DA0874B2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289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A6825E-C554-4DE4-9535-DBA2E16F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705100"/>
            <a:ext cx="895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39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9201D7-E074-467F-8530-D230D8C1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56F9C3-27C7-4FE7-BEB1-712121A9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1847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企業義務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A490FD-3B77-4A27-BFF8-B0C19EFA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813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6335DC-88FB-4420-8B02-6E379BCA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257550"/>
            <a:ext cx="895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D5F630-B83B-45C0-9AAC-BB4B4710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B6147B-0938-42E9-A719-B7DD6076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1847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勞工權益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F86B73-1F9B-4722-9452-BABC9734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338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F1BE36-8C3E-4DE0-BBC3-32CB8153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810000"/>
            <a:ext cx="895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7E0836-D7DB-4BF1-B652-BE0A4344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D043A4-4670-4491-83CD-394ADDD3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1847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裁罰案例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31511B-0566-4C7B-905E-C18427F7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862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373B8D-6BAF-4843-9631-D8D8ECCC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362450"/>
            <a:ext cx="895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603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46CD61-507A-42A3-B7A2-86D09746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387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1AFA71-1E5D-4C6F-B1A3-76039DDB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14900"/>
            <a:ext cx="1847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工作情境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A99779-59F8-47BF-B2D4-2505D03D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387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90F8F7-7B1D-43C4-9989-483D691C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914900"/>
            <a:ext cx="895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DD82EB-11F0-492A-843C-E0301E8E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9115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04545F-5909-493F-95DC-907B11D4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1847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其他 11 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13E6391-426D-4521-B6BB-36EBDE77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911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03C925-A35D-4236-BBC4-4C92475A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467350"/>
            <a:ext cx="895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90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61037F-769A-44B3-99F4-8D2C17D8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436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845C7B-DE26-4EE6-9356-C86C1C86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019800"/>
            <a:ext cx="1847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合計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08663E-8BA1-4B3F-AC9B-76F49538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9436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E235863-98DB-45DA-AC2C-7D8182F7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6019800"/>
            <a:ext cx="895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766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2C6C330-A67B-482C-B340-AC224549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5240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0CB487B-96E4-4EED-AA43-34860176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600200"/>
            <a:ext cx="2038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關係群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5319073-D431-4177-ABC3-757BF306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524000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E270082-B6EF-43E6-9A2B-58A2E2A1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600200"/>
            <a:ext cx="1181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關係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3FE8226-B679-43E4-A2C8-254871E7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52400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EBCAD7B-B268-44D4-B40A-246AA6DF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1600200"/>
            <a:ext cx="800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邊數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FC04EAC-A3C7-43F3-95AE-1E81641A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5240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4EBC7AA-47E8-4BAE-B343-272CE1E6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1600200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功能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1B19CF6-E033-4FEC-9206-3F13B912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764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66839EF-D4F5-4E72-9C4C-346454FE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152650"/>
            <a:ext cx="2038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核心義務 / 權益鏈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977B99B-46B8-4945-BFE1-9603BD03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76450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4C1D6D4-505E-4AC5-8657-82D66562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152650"/>
            <a:ext cx="1181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R1–R5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EFCE27F-447A-49D2-91EE-854A4D85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7645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98ABC7B-12BF-48FC-AD11-ACEF889C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152650"/>
            <a:ext cx="800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206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553E6E8-70D8-4D59-ACF2-A57AC4ED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764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56DF753-5CA1-4462-AA07-606E0AD4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152650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事故→法規→義務/權益→文件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C121732-016B-4C92-8A40-E294BB45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289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EA26159-EA30-4346-ACDB-DA636FA9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705100"/>
            <a:ext cx="2038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裁罰案例鏈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919ADA3-12FB-48B2-97EE-EF323F74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628900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46C8CC1-07F3-478D-A6B1-2144A68E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705100"/>
            <a:ext cx="1181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R6–R8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2D67568-DE55-48FC-8137-AC4E691D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2890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B9995ED-9E89-4500-9BA3-1BA283AF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705100"/>
            <a:ext cx="800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1,914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CC619B7-9705-4570-963C-6970005F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6289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8EEA6FB-2AA1-4047-A1EE-8BD6DB28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05100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產業→違規→案例→法條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B59A120-AD09-446C-AD25-DCEA8D42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813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277B63C-E6B7-4B11-A0ED-3C957DEE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257550"/>
            <a:ext cx="2038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刑事 / 民事責任鏈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9D3A427-CD0D-4FD7-AEF0-54A2D3DF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81350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37CE7FF-4A2D-495B-827A-E220EF8B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257550"/>
            <a:ext cx="1181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R9–R13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1D8ED37-FCF6-4EB6-BAFA-2F9C2D23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8135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5092904-CB1D-406C-B6E0-F3A360EA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257550"/>
            <a:ext cx="800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52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C47E745-C8BC-4B67-B376-97FF0575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1813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8FCB11F-79BD-4848-A1F8-B980D0BD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257550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義務→刑責→負責人連帶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787D74E-E978-48AB-9487-2A5537DD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7338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E7367FB-7F99-4045-BAFF-AFE3A91E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810000"/>
            <a:ext cx="2038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IT 工作情境鏈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FDF88D4-47FE-4859-91E3-D405E7C5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733800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615D1DF-ED20-4171-9A66-626A8C0E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810000"/>
            <a:ext cx="1181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R14–R20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CE0E30C-684C-41C3-8357-19802D9E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73380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7B97172-300F-43CD-A8A4-C625F8C8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810000"/>
            <a:ext cx="800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214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CCAADA5-6905-495F-A1CE-C8C55791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338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9F5F3A0-F24D-472D-AE6D-CB91A0EF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810000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情境→事故→證據→任務→角色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A3DE007-DCDC-43DB-8138-14ADB94D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2862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17FE899-B766-4629-961D-6EDAE2C8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362450"/>
            <a:ext cx="2038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風險雷達 / 罰則鏈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E456C6F-1D79-4CBB-B2E8-B5699533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286250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BF4DC0F-DF10-4B59-A10A-D4CAFC49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362450"/>
            <a:ext cx="1181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R21–R24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DB236A1-3EF0-4D9E-ACAA-E528D1A4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28625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F271CB2-4546-4D07-AB68-38546C57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362450"/>
            <a:ext cx="800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AB67219-BC91-46D1-95F9-FC2F0402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2862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AD67689-F724-4A35-BB6F-8A22DC42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362450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違規→法條→罰則→受理單位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F5205BC-6A7A-41DF-A0FE-46880BCD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8387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6B278A5-073C-407A-8484-FDB53F3A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914900"/>
            <a:ext cx="2038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合計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935F6DF-235A-4F24-906F-9C1CC56F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838700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4367A25-A327-416D-A42A-5D184472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914900"/>
            <a:ext cx="1181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24 種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CDFB232-3DA0-494D-A2C2-90E2612F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83870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800A634-01DE-4BB1-AA5D-6E1DEC4C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914900"/>
            <a:ext cx="800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2,410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4E18D10-8721-4C3B-A3F7-40138313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8387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5FE38EF-4CCD-45E9-BD03-D114DA75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914900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 懸空邊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D438C19-B033-4638-86F0-2DD827B5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6B1C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6B1C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2662029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B368F7-04CF-4F69-BAC4-EB447A20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C24EC5-13D2-4305-B11B-0623E29E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945E73-CB4A-446D-8C96-7A9C47AB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非結構化資料：VectorRAG PDF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83B64D-5C8B-4498-9B61-43D07035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9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簡報展示 15 份核心 PDF；後台完整上傳 32 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EA213B-EABE-4D98-8451-6D9D878A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152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5056ED-4D55-431A-B1F9-5E75BFA6B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43075"/>
            <a:ext cx="1371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類型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9F3FA6-8721-483A-95C0-CDA231A9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666875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0A3B32-DBD2-423F-829C-05367ABC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1743075"/>
            <a:ext cx="7086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核心文件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2FB122-5201-47BC-BB8C-60DC4796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666875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C1F096-3AF8-470B-9AAE-F4E550C6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743075"/>
            <a:ext cx="2228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來源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56F69A-F993-41D9-BFAB-A6395D15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86025"/>
            <a:ext cx="152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35361B-7BE5-453B-9E74-189C0933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562225"/>
            <a:ext cx="1371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法規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20EF48-572C-48CF-B24D-AA6F8AC9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486025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368142-717C-48E8-9E7F-123E7FA0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562225"/>
            <a:ext cx="7086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勞基法、職安法、災保法、性平法、勞動事件法、大量解僱法、勞資爭議處理法、民法、刑法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0E88EE-1FAE-42D6-8750-7C572F61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486025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98272B-C273-4E9D-AB22-AEAA466E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562225"/>
            <a:ext cx="2228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law.moj.gov.tw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A28696-C3EF-44A3-8FE6-4D5C1052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05175"/>
            <a:ext cx="152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AC0CA8-66AB-4C6A-B328-AD1719D5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81375"/>
            <a:ext cx="1371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給付指南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1534D3-BF88-4981-9326-D3119D7B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305175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26BE82-C435-4522-9EC6-C5AE9940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381375"/>
            <a:ext cx="7086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職災給付指南合輯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1532B8-A778-4E4B-87D5-D13D366C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305175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C110BA-953D-43EC-B8AF-08F3D1C8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381375"/>
            <a:ext cx="2228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bli.gov.tw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E1DA74-D6E4-4F57-ACBE-57A161D8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24325"/>
            <a:ext cx="152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EBE1F6-28A7-46E8-AB13-87021BEE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200525"/>
            <a:ext cx="1371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職安指引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7F9CF7-9CE0-48F3-8193-C5C8D075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124325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CD070C-32F2-4AB0-8BFF-2B1F48E4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4200525"/>
            <a:ext cx="7086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不法侵害預防指引、異常工作負荷指引、腦心血管疾病認定參考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120BDB-3634-4AD7-A062-293F6976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124325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47A652-BA60-4C3E-9451-4E2DD2B3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4200525"/>
            <a:ext cx="2228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osha.gov.tw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FF1438-C660-470C-84CE-FCFDB23C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43475"/>
            <a:ext cx="152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15971A-059E-4D56-8836-CAADB05A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019675"/>
            <a:ext cx="1371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案例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FA04BB-4E8C-4BDF-9B42-762ED45F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943475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EAA54F-2430-436A-B19B-074309D7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5019675"/>
            <a:ext cx="7086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重大職災統計、職災判決摘要、案例彙編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F90CC9-FF8B-4308-9E91-BF5F5D28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943475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7927C8-8B86-4AF6-B5AC-42F05B04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5019675"/>
            <a:ext cx="2228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osha.gov.tw / 司法判決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40B8DD-BA45-4CD0-B2D0-CC92F9F6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05500"/>
            <a:ext cx="990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VectorRAG 用於語意檢索，讓 AI 回答口語問題時能引用官方原文。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67AEEE-FEE8-4859-BCBC-133883A2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6B1C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6B1C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0586831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3A0E76-AB1A-482B-B44C-2B548EE2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C75FBF-13B9-43F3-9B42-27E578EA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64AE2B-4348-4D8F-BA88-6E270DA9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模型設計：事故如何變成決策鏈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E16654-F0C8-4FE6-A179-BA7D906E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9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直接使用既有 Graph 節點截圖，不重新生成流程圖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fa5b8d4f3048ba"/>
          <a:stretch xmlns:a="http://schemas.openxmlformats.org/drawingml/2006/main"/>
        </p:blipFill>
        <p:spPr>
          <a:xfrm xmlns:a="http://schemas.openxmlformats.org/drawingml/2006/main">
            <a:off x="1781136" y="1257300"/>
            <a:ext cx="8629728" cy="3333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1F6E26-F4FC-4D20-AC80-C1A588E5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00625"/>
            <a:ext cx="10620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1B8CB2-1119-4E56-872A-27B883EF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6255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核心鏈：工作情境 S → 事故 A → 法規 L → 企業義務 D / 勞工權益 B → 文件 DOC → 罰則 P / 刑責 CR / 民事賠償 CV</a:t>
            </a:r>
          </a:p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範例：S004 → A003 → L001/L002 → D002/D003 → DOC001/DOC003 → CR002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B09A17-98C1-4936-956D-D732F751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6B1C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6B1C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9134460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79B4A7-C9B1-4EC4-A97B-50BFF4FB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96E0A3-904C-4DF4-963F-9AFF937E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35B074-D7F8-44B9-A45F-E9A0CFF8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Prompt Design 與 Context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669B4E-E17B-42C0-8F1A-E4DDB8FF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9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三類 Prompt 對應三種產品情境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B7DDA5-4572-4CAA-BDFF-D8AD864F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3143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D5513C-D70B-4C24-BC22-D9C194B5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應急導航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295D8C-3D9F-4A9D-BE69-F0461705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事故責任判定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法定義務查詢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雙面介面切換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857906-DA49-41F9-B2F3-6C6514DC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05150"/>
            <a:ext cx="2609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5FF"/>
          </a:solidFill>
          <a:ln xmlns:a="http://schemas.openxmlformats.org/drawingml/2006/main" w="9525">
            <a:solidFill>
              <a:srgbClr val="D6E5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2DF2AA-1197-43B2-878B-D0FA3450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09925"/>
            <a:ext cx="2362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工程師到客戶機房搬伺服器扭傷，誰負責？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8F189C-A794-4571-91E4-B7B8F201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19250"/>
            <a:ext cx="3143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F77D7F-465C-4C87-B8CB-91BF907B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8859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精準止損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22130D-4B84-48D2-8144-93EFAFC4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3812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資遣程序確認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舉證缺口分析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EEED36-2BB0-4C92-8D58-C926D0B5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105150"/>
            <a:ext cx="2609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5FF"/>
          </a:solidFill>
          <a:ln xmlns:a="http://schemas.openxmlformats.org/drawingml/2006/main" w="9525">
            <a:solidFill>
              <a:srgbClr val="D6E5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2FDB2C-4F11-4F02-A410-5473381C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209925"/>
            <a:ext cx="2362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要資遣表現不佳的工程師，有哪些程序？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FBB7B2-A53D-4B34-8D1F-BD0271D0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19250"/>
            <a:ext cx="3143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C2A460-0218-4CE3-AC86-92C874BF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859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風險雷達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A9D5F9-772A-4CB3-843B-261CCA8E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812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同業對標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裁罰統計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2087A1-8F64-4B61-8AC2-1CDAB222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05150"/>
            <a:ext cx="2609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5FF"/>
          </a:solidFill>
          <a:ln xmlns:a="http://schemas.openxmlformats.org/drawingml/2006/main" w="9525">
            <a:solidFill>
              <a:srgbClr val="D6E5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F9CB3B-7F14-4503-B229-D2649930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09925"/>
            <a:ext cx="2362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100 人 IT 公司常加班，主要違規風險是什麼？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9D8E74-A58B-4EFF-9A92-4B1549C6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10382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FDC999-1FFE-4E80-8605-F1B44F7F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5295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Robot Setting：繁體中文、台灣法規語境；先判斷使用場景；回答必須包含判定、義務、文件、罰則、風險；引用格式為法規名稱§條號；Cypher 使用 Neo4j v5，禁用 OVER()。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E42928-13D9-4DB6-8465-0ED7255B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6B1C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6B1C2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9477375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1EE7BA-63B3-436A-B10E-B47513FA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0D29C-AF9D-49A8-9C91-4FABABB7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552C31-ED24-4101-B7C7-F0A9920D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API 與介面雛形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39E420-6BF5-4531-BBD5-19205E05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9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直接使用既有深色 UI 截圖，不重新生成介面圖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ce6dc0b53c4857"/>
          <a:stretch xmlns:a="http://schemas.openxmlformats.org/drawingml/2006/main"/>
        </p:blipFill>
        <p:spPr>
          <a:xfrm xmlns:a="http://schemas.openxmlformats.org/drawingml/2006/main">
            <a:off x="571500" y="1679315"/>
            <a:ext cx="7810500" cy="359462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7C0176-F626-47A8-8A35-33C47C12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240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核心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AF56CE-EBFD-4A7F-89A2-5DA3C845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764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A28A5D-B77D-4C81-9070-5B7BC86D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76450"/>
            <a:ext cx="2152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POST /api/v1/chat/create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5F359C-6332-4C85-AE47-0AFBF765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908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008D04-4114-447C-BEE5-444DBA7D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90800"/>
            <a:ext cx="2152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POST /api/v1/chat/{chat_id}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E22A2B-54BE-42E9-8C44-94632D6C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051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DB82CF-9282-49A4-98E8-A08CC33D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05150"/>
            <a:ext cx="2152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GET /api/v1/chat/{chat_id}/messages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3EE355-A322-42FE-9949-51C39201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052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介面功能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37FB8F-8F95-4617-9616-73A12E00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005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D4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7D4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58617-9FCE-4D2A-A17A-36124A65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400550"/>
            <a:ext cx="2152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身份切換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17E7BF-C14E-46C8-9CD4-1CE6F12F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815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D4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7D4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EA9B88-9E4B-4D57-8FBF-1BF05D2F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781550"/>
            <a:ext cx="2152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情境選擇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24A4B3-F55A-40CA-83E3-BD76E0C3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625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D4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7D4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543C24-9743-43F0-8E81-CDF569DC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162550"/>
            <a:ext cx="2152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AI 結構化回答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3FA605-C880-44F7-A6C9-7090465F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5435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D4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7D4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4996B7-1872-4A60-B38B-D8CD0132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543550"/>
            <a:ext cx="2152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GraphRAG 推理路徑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FDF094-84FB-4B45-8816-C8CF266F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6B1C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6B1C2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5569378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544D11-0E89-4BDE-9EE1-EE38465C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3F562A-D402-4015-BB6F-252DA71C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829212-8971-49FF-B0A4-E10D22B2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Demo 1：應急導航，駐點工程師機房搬運受傷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374CBB-ADEF-4A3F-BE17-9F19118C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4905375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5CDC5E-F0C0-4507-ACAA-87A03745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90700"/>
            <a:ext cx="4333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EAP QA 截圖區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642694-A86D-4817-B281-EB91D10E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4048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我是 IT 公司人資。工程師到客戶機房支援維修，搬伺服器時扭傷腰送醫。客戶說現場由我們公司管，我們說是客戶指揮。這算職災嗎？誰要負責？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B7F65F-AF77-4BAD-9AA5-A198F213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4048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實際簡報可替換為平台截圖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C4A439-A1CA-477A-87F3-755AB854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04950"/>
            <a:ext cx="5334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8E773E-8D6C-4C34-86BE-251DA6F9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09750"/>
            <a:ext cx="457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AI 回答重點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CE7A4A-CDB2-40DD-B0D1-E01A26A9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3362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F702E1-ED3B-4990-9E64-82CB508C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333625"/>
            <a:ext cx="4248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S004 → A003，職災成立初判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DF7C98-D4BD-44D2-B087-7D464C4E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3367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014907-18BB-49B8-821D-5230F767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733675"/>
            <a:ext cx="4248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勞基法§59 補償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62B4B6-C36B-4C78-B2B9-8792A054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3372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F70B26-772D-4914-9C8A-B081D421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133725"/>
            <a:ext cx="4248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勞基法§63-1 連帶責任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3F27DA-4C3F-4136-B042-2DF2917F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3377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60F88C-2989-4EC0-ABBA-3A48C510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533775"/>
            <a:ext cx="4248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文件：派工單、門禁紀錄、合約、診斷證明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C45F69-5ED0-4DBF-B020-FA21945E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3382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D43E82-CEAF-4357-87EE-EE692746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933825"/>
            <a:ext cx="4248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風險：業務過失傷害、民事賠償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9FA614-4949-438B-833D-FCE64ECC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1038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7EA"/>
          </a:solidFill>
          <a:ln xmlns:a="http://schemas.openxmlformats.org/drawingml/2006/main" w="9525">
            <a:solidFill>
              <a:srgbClr val="E6F7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673048-B3AA-48A6-9C74-7F534DB5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19750"/>
            <a:ext cx="981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7D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7D46"/>
                </a:solidFill>
                <a:latin typeface="Aptos"/>
                <a:ea typeface="Aptos"/>
                <a:cs typeface="Aptos"/>
              </a:rPr>
              <a:t>S004 → A003 → L001/L002 → D002/D003 → DOC001/DOC003 → CR002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C95032-67F4-4192-B70D-B8CDCB4E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6B1C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6B1C2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2340772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495302-2385-400E-8204-6EC7A07C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EE5189-3BA7-4697-ADFA-41A05DAD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312463-725F-4899-958C-E73DD199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Demo 2：精準止損，資遣程序合規確認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2F875D-BD57-4075-8D22-B9F02680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4905375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FAE639-74AC-4B2E-B263-73D21320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90700"/>
            <a:ext cx="4333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EAP QA 截圖區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0B6452-644D-473E-931D-C33F82B5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4048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我要資遣表現不佳的工程師，有哪些程序？期限是什麼？不照做會怎樣？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475DA3-9284-49C1-909C-F0C5283C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4048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實際簡報可替換為平台截圖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98105F-36BA-4DFF-BD9D-3AE45ABA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04950"/>
            <a:ext cx="5334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7FEEF6-490C-4DBD-887D-4AE1F82A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09750"/>
            <a:ext cx="457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AI 回答重點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6104E1-4177-4930-8C3B-ED71345D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3362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7689F7-B9C9-48E5-AA34-6A93C56A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333625"/>
            <a:ext cx="4248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確認資遣理由、預告期、資遣費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9676F9-70A6-4D25-ABB2-B3C1EC1D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3367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0B1366-6A69-4176-A3F0-FEC65458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733675"/>
            <a:ext cx="4248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非自願離職證明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E8AF76-3ED3-472B-BC01-2BC49A52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3372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CCB1F9-779D-4E4F-B685-EBF39A77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133725"/>
            <a:ext cx="4248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工資 / 出勤 / 績效紀錄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3CD526-DF4A-4866-8D30-F40B215C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3377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A8464D-4319-4D68-86A3-8DB2B7A3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533775"/>
            <a:ext cx="4248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勞動事件法§37 工資推定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D53D67-2ECF-40A2-B936-41F2B60F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3382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0E2AAB-B858-4414-BF4D-85403381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933825"/>
            <a:ext cx="4248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大量解僱需 60 日前計畫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ED9B43-8DCC-46AF-AF19-2FC51E9A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1038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7EA"/>
          </a:solidFill>
          <a:ln xmlns:a="http://schemas.openxmlformats.org/drawingml/2006/main" w="9525">
            <a:solidFill>
              <a:srgbClr val="E6F7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8CA4CB-6A55-49AF-9902-43C7E7A5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19750"/>
            <a:ext cx="981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7D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7D46"/>
                </a:solidFill>
                <a:latin typeface="Aptos"/>
                <a:ea typeface="Aptos"/>
                <a:cs typeface="Aptos"/>
              </a:rPr>
              <a:t>S008 → A006 → L023/L024/L025 → D009–D011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B21282-A467-4AAF-8AC7-58A354AD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6B1C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6B1C2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4830413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E2061B-6FB2-4DA9-BE86-D316F4BF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2D04B5-173D-4305-8789-64640FD4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9C7CE4-5991-4D8B-83EF-FB7E4A02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Demo 3：法規風險雷達，100 人 IT 公司同業對標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22B1CE-2E1F-4B45-ADA1-B75A471B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4905375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0DBEC5-EB9E-45BF-B73E-65BE62D9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90700"/>
            <a:ext cx="4333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EAP QA 截圖區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B6EB92-4A8C-413D-B73F-6EF13C36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4048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我們是 100 人 IT 公司，常有加班，評估主要違規風險。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DEB764-B0B8-4950-ABC6-441E6FEA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4048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實際簡報可替換為平台截圖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51794E-2CD6-4A64-A963-3CE06D10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04950"/>
            <a:ext cx="5334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A8E11B-9F0C-434C-B72D-5F9A3ABA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09750"/>
            <a:ext cx="457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AI 回答重點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A03F1F-3ACF-4ECE-B786-6A5A93F6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3362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52CDB6-395B-4224-A340-559EBC51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333625"/>
            <a:ext cx="4248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工資給付、加班費、工時紀錄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959327-E642-4F5E-8AA8-AE0E57303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3367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83A015-BB2B-45D0-B6A5-8706BD53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733675"/>
            <a:ext cx="4248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災保法行政義務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5BF3FF-1299-49E1-90FA-7C2F6C05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3372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E73171-EF51-4FED-AFF5-7AACB273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133725"/>
            <a:ext cx="4248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資訊服務業工資工時裁罰 2,363 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FB725A-908B-4DD9-B4F1-13F0FF81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3377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7CE140-5B73-4D38-B6A0-C3221F44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533775"/>
            <a:ext cx="4248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災保法裁罰 687 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8D1F37-A705-4ECF-8B4B-60AA48FA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3382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D0D658-0DA8-4DD1-9B63-8E05554C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933825"/>
            <a:ext cx="4248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建議：先補出勤紀錄、加班核准、on-call 工時規則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F92132-90EE-4564-A096-F5B7453C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1038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7EA"/>
          </a:solidFill>
          <a:ln xmlns:a="http://schemas.openxmlformats.org/drawingml/2006/main" w="9525">
            <a:solidFill>
              <a:srgbClr val="E6F7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DCA89F-BD2E-4424-8968-5B7DB1BF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19750"/>
            <a:ext cx="981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7D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7D46"/>
                </a:solidFill>
                <a:latin typeface="Aptos"/>
                <a:ea typeface="Aptos"/>
                <a:cs typeface="Aptos"/>
              </a:rPr>
              <a:t>IND_08 → VP → L → D / DOC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AE55B9-F1D2-4A49-83FD-0FD28449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6B1C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6B1C2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42049635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6E6915-C8E7-4C2F-A7CA-13E3F417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50AA3D-ACED-471B-A210-C4AFAB5A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F3FFA5-DF2A-4A25-A2E9-95E8A46B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Demo 4：雙面介面，同一事故 HR 與勞工不同輸出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BD5AA8-9EF3-477B-A9F6-8A951CBB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381125"/>
            <a:ext cx="10382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同一事故：工程師去客戶端開會途中發生車禍，現在住院。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C0A1C3-E0E6-4530-919B-708B72B9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495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56A1A6-573A-4766-A79C-8B468B4B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28825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HR 端輸出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563CF4-49D4-497C-9FB3-9A562473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52625"/>
            <a:ext cx="495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C2E4D3-5732-4056-861D-3E038D47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28825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勞工端輸出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2F9E82-3682-4B15-8227-D54640D5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81275"/>
            <a:ext cx="495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2094F2-CBFF-46CE-96AE-880F9558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57475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判斷通勤 / 公出 / 職災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08DACB-A981-46A9-8FA5-43F03D28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81275"/>
            <a:ext cx="495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C40BFC-FBB6-462A-BE8F-1B1D68D4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57475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可申請傷病給付、醫療給付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7CE850-E101-41F6-8668-2471F923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9925"/>
            <a:ext cx="495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B41E58-1F67-4221-BC9A-52E86F24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86125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公司補償與通報義務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DBD45B-9697-4859-B400-9993E94C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09925"/>
            <a:ext cx="495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E1E52D-1FB3-4D5C-A4B3-2F076624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86125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失能或照護給付可能性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052ED3-3AE5-439D-B73F-C5D9FB2A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38575"/>
            <a:ext cx="495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A5F2D2-3DE7-4239-A686-1B1676EE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14775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應備證據與文件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DFB606-11F8-477F-81C3-0048D1FE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38575"/>
            <a:ext cx="495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3ADACE-8057-4D2C-AA08-2FECE521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914775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診斷證明、事故證明、薪資資料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86F61D-6CE7-4EA3-B6A2-A6C591A2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67225"/>
            <a:ext cx="495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474BE1-3719-4A16-8E23-2C941DEE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43425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罰則與責任邊界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A43B3D-6F5B-4B5A-9B05-4489A7AB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67225"/>
            <a:ext cx="495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1CD9E1-0730-443E-BAA4-55A094DC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43425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受理單位：勞保局 / 勞工局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C3F025-2709-4968-8648-B17A6C16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150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F7D4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F7D46"/>
                </a:solidFill>
                <a:latin typeface="Aptos"/>
                <a:ea typeface="Aptos"/>
                <a:cs typeface="Aptos"/>
              </a:rPr>
              <a:t>核心展示：同一知識庫、同一事故，GraphRAG 依身份走不同決策路徑。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A8CFD3-CBBF-4998-A69E-AD77DBE7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6B1C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6B1C2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133942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2026-05-09T15:23:32.0010000Z</dcterms:created>
  <dcterms:modified xsi:type="dcterms:W3CDTF">2026-05-09T15:23:32.0010000Z</dcterms:modified>
</coreProperties>
</file>