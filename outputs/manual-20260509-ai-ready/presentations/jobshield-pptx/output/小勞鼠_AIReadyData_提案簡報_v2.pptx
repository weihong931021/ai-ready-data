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ae33f108844983" /><Relationship Type="http://schemas.openxmlformats.org/officeDocument/2006/relationships/extended-properties" Target="/docProps/app.xml" Id="Rdefb722b6f6a4e8e" /><Relationship Type="http://schemas.openxmlformats.org/officeDocument/2006/relationships/officeDocument" Target="/ppt/presentation.xml" Id="R59c77ffdca8241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a4dd33067347ce"/>
  </p:sldMasterIdLst>
  <p:notesMasterIdLst>
    <p:notesMasterId xmlns:r="http://schemas.openxmlformats.org/officeDocument/2006/relationships" r:id="R445b9d31db5f4256"/>
  </p:notesMasterIdLst>
  <p:sldIdLst>
    <p:sldId xmlns:r="http://schemas.openxmlformats.org/officeDocument/2006/relationships" id="256" r:id="R8fff9f78aeea4d29"/>
    <p:sldId xmlns:r="http://schemas.openxmlformats.org/officeDocument/2006/relationships" id="257" r:id="R6bd8f57481a243f6"/>
    <p:sldId xmlns:r="http://schemas.openxmlformats.org/officeDocument/2006/relationships" id="258" r:id="R1c96bebcb2a44fa5"/>
    <p:sldId xmlns:r="http://schemas.openxmlformats.org/officeDocument/2006/relationships" id="259" r:id="Rce2c27781b9b430a"/>
    <p:sldId xmlns:r="http://schemas.openxmlformats.org/officeDocument/2006/relationships" id="260" r:id="R97a7fa8d8e694470"/>
    <p:sldId xmlns:r="http://schemas.openxmlformats.org/officeDocument/2006/relationships" id="261" r:id="Rdf1c11e702ac400c"/>
    <p:sldId xmlns:r="http://schemas.openxmlformats.org/officeDocument/2006/relationships" id="262" r:id="R0bb7f325b0464da5"/>
    <p:sldId xmlns:r="http://schemas.openxmlformats.org/officeDocument/2006/relationships" id="263" r:id="R4064c11b485746a1"/>
    <p:sldId xmlns:r="http://schemas.openxmlformats.org/officeDocument/2006/relationships" id="264" r:id="R7fd4ed2533374a6e"/>
    <p:sldId xmlns:r="http://schemas.openxmlformats.org/officeDocument/2006/relationships" id="265" r:id="Rb12379d0f04440aa"/>
    <p:sldId xmlns:r="http://schemas.openxmlformats.org/officeDocument/2006/relationships" id="266" r:id="R1af3b6571be74b07"/>
    <p:sldId xmlns:r="http://schemas.openxmlformats.org/officeDocument/2006/relationships" id="267" r:id="R6e82eb2f13e84652"/>
    <p:sldId xmlns:r="http://schemas.openxmlformats.org/officeDocument/2006/relationships" id="268" r:id="R19099e588a784176"/>
    <p:sldId xmlns:r="http://schemas.openxmlformats.org/officeDocument/2006/relationships" id="269" r:id="R395f7628b7b24cd0"/>
    <p:sldId xmlns:r="http://schemas.openxmlformats.org/officeDocument/2006/relationships" id="270" r:id="R48e5b5ff1f5244af"/>
    <p:sldId xmlns:r="http://schemas.openxmlformats.org/officeDocument/2006/relationships" id="271" r:id="R725a710ba4a1489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4dd33067347ce" /><Relationship Type="http://schemas.openxmlformats.org/officeDocument/2006/relationships/theme" Target="/ppt/theme/theme1.xml" Id="R2ad92ffb32ea4661" /><Relationship Type="http://schemas.openxmlformats.org/officeDocument/2006/relationships/notesMaster" Target="/ppt/notesMasters/notesMaster1.xml" Id="R445b9d31db5f4256" /><Relationship Type="http://schemas.openxmlformats.org/officeDocument/2006/relationships/presProps" Target="/ppt/presProps.xml" Id="Rfa345d86fad3433a" /><Relationship Type="http://schemas.openxmlformats.org/officeDocument/2006/relationships/viewProps" Target="/ppt/viewProps.xml" Id="R11cd30dae1d94859" /><Relationship Type="http://schemas.openxmlformats.org/officeDocument/2006/relationships/tableStyles" Target="/ppt/tableStyles.xml" Id="Rc4638daa4d2c4af9" /><Relationship Type="http://schemas.openxmlformats.org/officeDocument/2006/relationships/slide" Target="/ppt/slides/slide1.xml" Id="R8fff9f78aeea4d29" /><Relationship Type="http://schemas.openxmlformats.org/officeDocument/2006/relationships/slide" Target="/ppt/slides/slide2.xml" Id="R6bd8f57481a243f6" /><Relationship Type="http://schemas.openxmlformats.org/officeDocument/2006/relationships/slide" Target="/ppt/slides/slide3.xml" Id="R1c96bebcb2a44fa5" /><Relationship Type="http://schemas.openxmlformats.org/officeDocument/2006/relationships/slide" Target="/ppt/slides/slide4.xml" Id="Rce2c27781b9b430a" /><Relationship Type="http://schemas.openxmlformats.org/officeDocument/2006/relationships/slide" Target="/ppt/slides/slide5.xml" Id="R97a7fa8d8e694470" /><Relationship Type="http://schemas.openxmlformats.org/officeDocument/2006/relationships/slide" Target="/ppt/slides/slide6.xml" Id="Rdf1c11e702ac400c" /><Relationship Type="http://schemas.openxmlformats.org/officeDocument/2006/relationships/slide" Target="/ppt/slides/slide7.xml" Id="R0bb7f325b0464da5" /><Relationship Type="http://schemas.openxmlformats.org/officeDocument/2006/relationships/slide" Target="/ppt/slides/slide8.xml" Id="R4064c11b485746a1" /><Relationship Type="http://schemas.openxmlformats.org/officeDocument/2006/relationships/slide" Target="/ppt/slides/slide9.xml" Id="R7fd4ed2533374a6e" /><Relationship Type="http://schemas.openxmlformats.org/officeDocument/2006/relationships/slide" Target="/ppt/slides/slide10.xml" Id="Rb12379d0f04440aa" /><Relationship Type="http://schemas.openxmlformats.org/officeDocument/2006/relationships/slide" Target="/ppt/slides/slide11.xml" Id="R1af3b6571be74b07" /><Relationship Type="http://schemas.openxmlformats.org/officeDocument/2006/relationships/slide" Target="/ppt/slides/slide12.xml" Id="R6e82eb2f13e84652" /><Relationship Type="http://schemas.openxmlformats.org/officeDocument/2006/relationships/slide" Target="/ppt/slides/slide13.xml" Id="R19099e588a784176" /><Relationship Type="http://schemas.openxmlformats.org/officeDocument/2006/relationships/slide" Target="/ppt/slides/slide14.xml" Id="R395f7628b7b24cd0" /><Relationship Type="http://schemas.openxmlformats.org/officeDocument/2006/relationships/slide" Target="/ppt/slides/slide15.xml" Id="R48e5b5ff1f5244af" /><Relationship Type="http://schemas.openxmlformats.org/officeDocument/2006/relationships/slide" Target="/ppt/slides/slide16.xml" Id="R725a710ba4a148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03d63e5edbe40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5d5db417a24e09" /><Relationship Type="http://schemas.openxmlformats.org/officeDocument/2006/relationships/notesMaster" Target="/ppt/notesMasters/notesMaster1.xml" Id="R5e733258bf5a48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830b368eb8441b" /><Relationship Type="http://schemas.openxmlformats.org/officeDocument/2006/relationships/notesMaster" Target="/ppt/notesMasters/notesMaster1.xml" Id="R7eff0268039a44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9d9645c1a04153" /><Relationship Type="http://schemas.openxmlformats.org/officeDocument/2006/relationships/notesMaster" Target="/ppt/notesMasters/notesMaster1.xml" Id="R3689dbedbaca4c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cbfa0be8074b20" /><Relationship Type="http://schemas.openxmlformats.org/officeDocument/2006/relationships/notesMaster" Target="/ppt/notesMasters/notesMaster1.xml" Id="R009d79f6fea34f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2255bd02674b12" /><Relationship Type="http://schemas.openxmlformats.org/officeDocument/2006/relationships/notesMaster" Target="/ppt/notesMasters/notesMaster1.xml" Id="R3a4487a5f93a42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c49b5337514726" /><Relationship Type="http://schemas.openxmlformats.org/officeDocument/2006/relationships/notesMaster" Target="/ppt/notesMasters/notesMaster1.xml" Id="Rb716ad7df2bd41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414bb3b8324f5c" /><Relationship Type="http://schemas.openxmlformats.org/officeDocument/2006/relationships/notesMaster" Target="/ppt/notesMasters/notesMaster1.xml" Id="R8a643bcb1fb748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aec8fb9f4640bb" /><Relationship Type="http://schemas.openxmlformats.org/officeDocument/2006/relationships/notesMaster" Target="/ppt/notesMasters/notesMaster1.xml" Id="R98be160ac04b45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42087208f54553" /><Relationship Type="http://schemas.openxmlformats.org/officeDocument/2006/relationships/notesMaster" Target="/ppt/notesMasters/notesMaster1.xml" Id="R88a683c5213944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1aa4e42dca452d" /><Relationship Type="http://schemas.openxmlformats.org/officeDocument/2006/relationships/notesMaster" Target="/ppt/notesMasters/notesMaster1.xml" Id="Re2dc3409f89843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5f900d14e3435a" /><Relationship Type="http://schemas.openxmlformats.org/officeDocument/2006/relationships/notesMaster" Target="/ppt/notesMasters/notesMaster1.xml" Id="R2595855969794d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9987dd953d4960" /><Relationship Type="http://schemas.openxmlformats.org/officeDocument/2006/relationships/notesMaster" Target="/ppt/notesMasters/notesMaster1.xml" Id="Re95d830cf90647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ce7165730e4ae3" /><Relationship Type="http://schemas.openxmlformats.org/officeDocument/2006/relationships/notesMaster" Target="/ppt/notesMasters/notesMaster1.xml" Id="R91ce289920d04d7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148f33a1924f0e" /><Relationship Type="http://schemas.openxmlformats.org/officeDocument/2006/relationships/notesMaster" Target="/ppt/notesMasters/notesMaster1.xml" Id="R12eba1da283f4b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06d112f5a2d4a62" /><Relationship Type="http://schemas.openxmlformats.org/officeDocument/2006/relationships/notesMaster" Target="/ppt/notesMasters/notesMaster1.xml" Id="R7f521f9236074b8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562c5017bf14983" /><Relationship Type="http://schemas.openxmlformats.org/officeDocument/2006/relationships/notesMaster" Target="/ppt/notesMasters/notesMaster1.xml" Id="R9a26ca3cff8b47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cccc9d304c41b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218b1aae539492b" /><Relationship Type="http://schemas.openxmlformats.org/officeDocument/2006/relationships/slideLayout" Target="/ppt/slideLayouts/slideLayout2.xml" Id="Re4aeda295ad645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aeda295ad645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bf33ff81ef468e" /><Relationship Type="http://schemas.openxmlformats.org/officeDocument/2006/relationships/image" Target="/ppt/media/image.png" Id="Rcde1ef9c53814c42" /><Relationship Type="http://schemas.openxmlformats.org/officeDocument/2006/relationships/notesSlide" Target="/ppt/notesSlides/notesSlide1.xml" Id="R217f346ce57744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84e63b82e04a2d" /><Relationship Type="http://schemas.openxmlformats.org/officeDocument/2006/relationships/notesSlide" Target="/ppt/notesSlides/notesSlide2.xml" Id="R76b05812831942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f986bf38c84228" /><Relationship Type="http://schemas.openxmlformats.org/officeDocument/2006/relationships/notesSlide" Target="/ppt/notesSlides/notesSlide3.xml" Id="R8c075ab0a63942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9d0557e63a4b37" /><Relationship Type="http://schemas.openxmlformats.org/officeDocument/2006/relationships/notesSlide" Target="/ppt/notesSlides/notesSlide4.xml" Id="R2784f77441384d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0fc33b68a44d5d" /><Relationship Type="http://schemas.openxmlformats.org/officeDocument/2006/relationships/notesSlide" Target="/ppt/notesSlides/notesSlide5.xml" Id="R8bc6842c8f6a42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f3f3a1b51044e2" /><Relationship Type="http://schemas.openxmlformats.org/officeDocument/2006/relationships/image" Target="/ppt/media/image2.png" Id="Rd61b398609124e29" /><Relationship Type="http://schemas.openxmlformats.org/officeDocument/2006/relationships/notesSlide" Target="/ppt/notesSlides/notesSlide6.xml" Id="Ra571096cb6a647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bc2ca39c544a7c" /><Relationship Type="http://schemas.openxmlformats.org/officeDocument/2006/relationships/notesSlide" Target="/ppt/notesSlides/notesSlide7.xml" Id="R98476fa1fb4947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34f227b4b14bac" /><Relationship Type="http://schemas.openxmlformats.org/officeDocument/2006/relationships/notesSlide" Target="/ppt/notesSlides/notesSlide8.xml" Id="Rf9b9ea566e6e44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5f2725f5c54e2a" /><Relationship Type="http://schemas.openxmlformats.org/officeDocument/2006/relationships/notesSlide" Target="/ppt/notesSlides/notesSlide9.xml" Id="Ra81ffc5942ba43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38736676164351" /><Relationship Type="http://schemas.openxmlformats.org/officeDocument/2006/relationships/image" Target="/ppt/media/image3.png" Id="R238c7833b56447bd" /><Relationship Type="http://schemas.openxmlformats.org/officeDocument/2006/relationships/notesSlide" Target="/ppt/notesSlides/notesSlide10.xml" Id="R1c80f907f1e840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caa6326dd84457" /><Relationship Type="http://schemas.openxmlformats.org/officeDocument/2006/relationships/notesSlide" Target="/ppt/notesSlides/notesSlide11.xml" Id="R718ba845585042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ed983624ee4b5f" /><Relationship Type="http://schemas.openxmlformats.org/officeDocument/2006/relationships/image" Target="/ppt/media/image4.png" Id="R5b1b18c9440546f1" /><Relationship Type="http://schemas.openxmlformats.org/officeDocument/2006/relationships/notesSlide" Target="/ppt/notesSlides/notesSlide12.xml" Id="Re12e68998e8446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30d8673445437c" /><Relationship Type="http://schemas.openxmlformats.org/officeDocument/2006/relationships/notesSlide" Target="/ppt/notesSlides/notesSlide13.xml" Id="Rc0aed8c7210f4f6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eb90c533144a11" /><Relationship Type="http://schemas.openxmlformats.org/officeDocument/2006/relationships/notesSlide" Target="/ppt/notesSlides/notesSlide14.xml" Id="R549919379f7348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83fb679613497f" /><Relationship Type="http://schemas.openxmlformats.org/officeDocument/2006/relationships/notesSlide" Target="/ppt/notesSlides/notesSlide15.xml" Id="R577d8e8fb26f4f9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55515a732d4182" /><Relationship Type="http://schemas.openxmlformats.org/officeDocument/2006/relationships/notesSlide" Target="/ppt/notesSlides/notesSlide16.xml" Id="R36f7944a499f470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1ef9c53814c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14638-2929-4148-BA27-63CA4212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836F0-F82C-452F-BB5B-F506C691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7E5C3-0918-4550-89E3-E75AFAF3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676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Hybrid RAG 驅動的職災與法遵風險作戰室</a:t>
            </a:r>
          </a:p>
        </p:txBody>
      </p:sp>
    </p:spTree>
    <p:extLst>
      <p:ext uri="{BB962C8B-B14F-4D97-AF65-F5344CB8AC3E}">
        <p14:creationId xmlns:p14="http://schemas.microsoft.com/office/powerpoint/2010/main" val="7468771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598C18-3EF8-42DD-BA9F-9EA5AAE4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1BE39-754A-4B34-81A9-9D11CD74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D2CBC-16D1-44CA-A2EF-2D20AE8C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痛點與量化佐證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8804F-3621-493C-9671-5BA362D6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風險已經發生在 HR、PM、管理層日常裡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9BDCA-FF45-4551-89C3-40D31DFD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095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HR 人資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51396-B215-477A-AA3C-0BC2CAF2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15B19-6C8F-45AA-9C19-04DB50C6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3095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1F7F0-8785-4BE7-B307-5AF00483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痛點：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職災發生不知道 8 小時內要做什麼，資遣程序不確定是否合規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BB4CD-72EB-4237-8825-0537B6FA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309562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E2"/>
          </a:solidFill>
          <a:ln xmlns:a="http://schemas.openxmlformats.org/drawingml/2006/main" w="9525">
            <a:solidFill>
              <a:srgbClr val="FFE7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F39F2-24AD-4F6F-9AF6-B98A5868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7443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C74432"/>
                </a:solidFill>
                <a:latin typeface="Aptos"/>
                <a:ea typeface="Aptos"/>
                <a:cs typeface="Aptos"/>
              </a:rPr>
              <a:t>3–30 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3D07F-1E1C-4CF3-91A5-9DCD4CC7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767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漏報重大職災罰鍰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DBF1D-F6C9-48B0-ABA1-5E3A523D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3095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PM 專案主管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DCE5B3-CC06-40D3-834F-15BE2D75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F68BC2-201E-4ECF-8AB8-104BCEA2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47900"/>
            <a:ext cx="3095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EE85F-50D7-4B46-AEE4-B452B87C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47925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痛點：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客戶端事故責任不清，專案趕工加班紀錄不足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3F0A3-FDAE-4FB5-A58D-A95FB905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29000"/>
            <a:ext cx="309562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E2"/>
          </a:solidFill>
          <a:ln xmlns:a="http://schemas.openxmlformats.org/drawingml/2006/main" w="9525">
            <a:solidFill>
              <a:srgbClr val="FFE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2F5DD8-95B9-4B91-888E-AA119355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7338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7443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C74432"/>
                </a:solidFill>
                <a:latin typeface="Aptos"/>
                <a:ea typeface="Aptos"/>
                <a:cs typeface="Aptos"/>
              </a:rPr>
              <a:t>1,883 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F12AA-0AC3-4F78-95B2-41A22D16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0767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違反加班費給付裁罰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BBB9C0-53B9-4ABE-B8CD-4734450B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3095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公司管理層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D38C2-C4F7-4AF7-9C0D-BABFAB43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9C510-CDAC-4578-88F5-B0A83785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47900"/>
            <a:ext cx="3095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093604-BF33-4DED-8D8A-B6175185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47925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痛點：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不知道同業被罰什麼，勞檢來了措手不及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C07DCD-C69A-4C14-B29B-A38F4C53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309562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E2"/>
          </a:solidFill>
          <a:ln xmlns:a="http://schemas.openxmlformats.org/drawingml/2006/main" w="9525">
            <a:solidFill>
              <a:srgbClr val="FFE7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1753D0-C64A-4C74-83DF-264AF741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338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7443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C74432"/>
                </a:solidFill>
                <a:latin typeface="Aptos"/>
                <a:ea typeface="Aptos"/>
                <a:cs typeface="Aptos"/>
              </a:rPr>
              <a:t>1,114 家次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AAE64D-F684-4EC0-BFB1-47628AC9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767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北市單年度開罰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1B5BFC-4696-4030-B906-C2DE244E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72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6AE3FF-955E-4678-92F4-5954F73F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772150"/>
            <a:ext cx="996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HR：每年 6,000+ 件資遣費勞資爭議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00AD58-B66F-4FE1-976B-56E4A8A6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007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08A7F0-EF25-4A08-A9F4-4946D224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6000750"/>
            <a:ext cx="996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PM：加班費裁罰總額 6,200 萬，出勤紀錄最高罰 100 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C7ACE0-D65D-4389-A8E5-A587974E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2293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80488F-B3F8-45C9-B8DE-76DC69BB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6229350"/>
            <a:ext cx="996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管理層：北市單年度總罰鍰 7,545 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B30CE2-5AED-4975-A350-2ED4796E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AI 是公司的「合規煙霧偵測器」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1327BB-556F-4A51-A87B-6712F71B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93746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279414-71A4-4F37-9AEA-B3370011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D32A6-21CD-4009-9BF3-A8EA87FD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0362C-4CA3-4E4E-A500-0AED2900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解決方案：一個知識庫，兩種決策視角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06590-738F-4D16-A84C-4F56ABA7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同一事故，依身份輸出企業義務或勞工權益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51CF2-E614-4453-93D6-A28BD0EF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80405-A3D0-4F11-AFCA-17FC82D1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71625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9BB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0155F-6E95-47A0-988C-BE377DA5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71625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9495C-FA0C-4AC3-875A-BA4D4B01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288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企業端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2388B-8839-4B8F-A76B-2DA893A4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240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Hybrid RAG</a:t>
            </a:r>
          </a:p>
          <a:p xmlns:a="http://schemas.openxmlformats.org/drawingml/2006/main">
            <a:pPr algn="ctr">
              <a:defRPr sz="21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共用知識庫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E7B5F-FF10-497B-80AE-47D9308C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288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勞工端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40BC7-1BE0-4BF1-8599-525DE27A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33515-5AF5-4B53-A055-CBA40DF7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7650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公司現在該做什麼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03008-491D-483A-B56B-48F546CB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16E37-9EF7-4303-B639-B8CFD673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1465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誰負責、少做會怎樣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7218DA-A1B4-456D-8FE3-95E7642B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E3887-3D2E-4C54-AFEE-8B900512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5280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需要哪些文件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51ED68-8624-44E9-AB1F-A308233C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1E2024-34B3-4D7E-B674-1438285F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9095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刑責 / 罰鍰 / 民事賠償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36C72-1BD5-4D8C-8167-BBDE18B5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051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FD324C-E534-475F-B1DD-F9E6FBB4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05125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VectorRAG 查法規原文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678ADF-50ED-46C7-AE1E-E4274341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623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D7F217-ED3D-4B5A-8A09-02B08B09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62325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GraphRAG 展開推理鏈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098538-46CB-4E6A-80F0-ABE5E7F0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195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622D5C-FA8A-4911-8F78-A4104112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19525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裁罰層支撐同業對標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B1A3CC-422D-478B-9FCF-E44785D9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765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6AF707-F67B-4D5D-A895-4022DEC9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7650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我能申請什麼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ED5276-2DBF-472C-B198-29FDEDE5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E2D2BE-0FC3-4748-88FD-1FD08F40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1465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要準備什麼文件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D2E82B-2761-4CBE-9976-CB3B4963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528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5A9E7F-A5C0-4A30-8921-F3D414EB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5280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申請期限與受理單位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354EFD-8EB1-4455-BB35-5014FCCB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909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492D4C-AFF7-4C7B-8D60-E6EB5567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9095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申訴或調解路徑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E991D9-71CB-462B-840F-DFAAE22B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715000"/>
            <a:ext cx="904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法律顧問是救火隊，小勞鼠是合規煙霧偵測器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DE9FCA-C8B0-48ED-A72E-8AA934BD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869767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1ABCD0-BF62-4372-BE8F-7E09619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36D21-79DE-4A63-9CC5-E93A93FD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E0738-8980-4E7E-B055-1DAE5711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應用與使用情境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CCE02-D32C-4808-A11B-72E4DE3F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三個高頻決策入口，對應 IT 公司真實工作場景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355FB-734E-4B2E-8DA1-C7EF32D2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286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99997-8B6C-43C9-92C2-8A416F45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31FAC-0A5D-4BB3-80A9-20F5D947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933575"/>
            <a:ext cx="38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13385-9CCA-48E1-A581-A950ED7E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57375"/>
            <a:ext cx="2238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應急導航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2F76C-EE51-4163-8386-35D8332E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0603E-E7F2-4C0B-9929-7129E82F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38400"/>
            <a:ext cx="2486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職災、客戶現場、IDC、通勤公出、不法侵害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FC227-6ACE-4151-A033-FE41C4BC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FF112-BB9F-447B-9594-E0DC0A02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2486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使用者：HR / PM / EHS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E6B69-936C-46FE-973C-49D5BDC3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5614C-5443-4BD8-96AC-BE4CD32E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2486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輸出：事故判定、SOP、文件、罰則、刑責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8DA7E-7D07-4118-BEA6-472B7557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00200"/>
            <a:ext cx="3286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59AA5-E13D-4ACD-9A39-CB2184EF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47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8DD99-778B-46ED-815D-8B07B3B7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933575"/>
            <a:ext cx="38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336110-CCA2-405B-8FFD-852F6A6F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57375"/>
            <a:ext cx="2238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精準止損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C3D565-7192-4B1E-95D8-DE5C3BFE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384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7ABFA-8D86-4D0E-BBC2-8FC0BA5A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38400"/>
            <a:ext cx="2486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資遣 / 解僱前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A8B21D-D200-4910-AE0E-F8863110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384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1E07CE-D5B9-4B74-BA4B-DC37AE99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38450"/>
            <a:ext cx="2486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使用者：HR / Legal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BC43B9-4936-456D-ADA3-EA0CB1B8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DBBF01-531C-4C22-B280-C04E50C6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38500"/>
            <a:ext cx="2486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輸出：程序、期限、舉證、調解風險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B8864A-F29B-4D97-9350-5185340A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00200"/>
            <a:ext cx="3286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84BA17-E227-49E9-B869-D87BC51D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47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2EF8F1-B690-4724-9D80-AF4FB16C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33575"/>
            <a:ext cx="38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B8BF6E-7B9E-4834-962D-25B3D3E3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57375"/>
            <a:ext cx="2238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法規風險雷達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14A515-AEB5-47B6-A756-702A301B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384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BE78A7-847B-442A-8AB3-3D9F87C7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38400"/>
            <a:ext cx="2486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勞檢前 / 年度內控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F2228F-6585-4850-9D66-2BA02952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384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18979A-1AFD-4F5D-B1BF-2AA5FD49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38450"/>
            <a:ext cx="2486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使用者：管理層 / HR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F316C4-43D1-4D66-9FA8-629BE12E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385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6BE513-80D4-4C82-9A8B-EAB30486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38500"/>
            <a:ext cx="2486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輸出：同業裁罰、法條熱點、改善建議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F58230-6AAD-4DD5-B9A3-939C455D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0">
            <a:solidFill>
              <a:srgbClr val="DDF2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B1DDCC-AB52-40E6-B65A-43F89E63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4355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事故發生時，每小時都是罰款計時器；資遣不合規，調解輸了是天價；同業被罰什麼，就是你的下一個風險。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6A3898-BC48-4364-809E-F51E7438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84133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C173BB-66CE-411E-88D4-0F44B25D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AA8FA-F57A-453F-B9AC-CE9B7CC7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F449F-6A49-438F-A57A-42D2BBE2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傳統 LLM vs 小勞鼠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723CF-9AD3-4777-9B9E-2F0EB605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回應評審會問的問題：現在 LLM 這麼強，你們好在哪？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6DF1A-0A62-4058-9F3B-68D6C0A2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4D9D7-DDD4-4E70-A9BA-94A5386D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比較項目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6CDC0-C8A3-4AD9-B6E6-0DDC595A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764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FD88D-5FE7-40D2-BC10-E8A706AA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52600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一般 LLM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74A3A-A090-4252-95CB-08DDE03D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C2CA3-A5E3-4FD7-A7EA-A799B260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461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小勞鼠 Hybrid 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09076-ACC2-4E61-9982-B00D9E46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47B06-E1C3-4E7E-9BFA-7D82CD34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19350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資料來源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075C0-9195-43A2-9C95-C35AC840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8695E-BA10-4D51-B2B2-022534F1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19350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可能憑模型記憶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400CB-93C9-4876-8E56-5E4AEEEF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29378-8185-4184-BAD7-F2E63BE0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461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官方 PDF + 裁罰 CSV + GraphRAG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E751D-EB72-46F5-A548-43F6F3B4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3AE2D-56DE-4900-A7A5-434D8AAE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推理方式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616EB5-F227-4D2E-A8FB-40ABC4A3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99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C4434F-3DA2-488C-8CE1-A9242E3E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文字回答為主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485621-97A1-4034-A8F2-FDAF957F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29BC38-A490-4854-A801-DCE4B142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86100"/>
            <a:ext cx="461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事故 → 法規 → 義務 → 文件 → 罰則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BFF3D9-AE89-41BF-924A-6E63B9D2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FCB183-F0B7-4AA6-A95F-1DD4E863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可追溯性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5A5AF6-93D3-4E36-B548-B8498441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766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318F7A-C19A-4CB6-9DBF-1B6EACE9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752850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難確認依據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FF83DA-C0E5-491B-98B9-67D04D19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63B5AE-59C4-454A-96E5-BBF43884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461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可回到節點、法條、裁罰案例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94138A-4FD2-4E22-9AE7-0EF000C0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09DDE7-6C1A-48FC-9CD5-C21221FB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產業性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3119BC-49DA-4661-B903-4B26B027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434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5E8B68-3A1F-411C-89FA-A9C6C985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19600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泛用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B6C92D-25A1-4B3E-9688-BE97D54E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F4010E-5A78-4424-81CB-2BE52A17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9600"/>
            <a:ext cx="461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專注資訊服務業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F82460-2A53-4E50-80BB-999C2997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5B9171-B361-4179-BF79-CAF125F8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86350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輸出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0C12E3-BF75-4D6F-8671-E322D12B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E6D419-E223-4A26-8672-E6B3960F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86350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一般建議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54516F-3CDC-4FA7-BB6F-38845D52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8EFD01-BDCB-4988-B303-47B72F3A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86350"/>
            <a:ext cx="461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可執行 SOP / 風險清單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83264F-AC8E-41C6-999D-D318E229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53125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核心差異：不是只答得出來，而是能把法條、義務、文件、罰則、刑責串成決策鏈。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527233-B69E-47EC-B73C-80785825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630071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E1CF11-3E5E-4862-865F-4567E154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5CFBE-B9EC-4F45-891A-0D602B32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E2EA5-2DB8-41E8-8A4D-11C43B56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技術架構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51CA9-3F6A-4D27-982A-2F8862E4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直接使用專案既有架構圖，不重新生成流程圖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b398609124e29"/>
          <a:stretch xmlns:a="http://schemas.openxmlformats.org/drawingml/2006/main"/>
        </p:blipFill>
        <p:spPr>
          <a:xfrm xmlns:a="http://schemas.openxmlformats.org/drawingml/2006/main">
            <a:off x="3079750" y="1162050"/>
            <a:ext cx="6032500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AC911-F577-4440-84A5-95A6DD25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055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3AC1B-B2B2-42B9-AC15-B3D39F6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9817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VectorRAG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EA5D6-D53F-44D1-80F1-AA006ADC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6181725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PDF 法規 / 指引 / 案例原文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8BF03-2CEA-4995-B037-E3D20B55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9055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3439A-FB0C-4C02-9EEE-AD7D8BE7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9817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GraphRAG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FB4CF-8231-4C3D-8373-93233903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6181725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義務 / 權益 / 文件 / 罰則 / 刑責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8607C-BA89-4C2E-AC41-5945D231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9055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0CC84-684B-4E97-9350-4FE7C651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9817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Robot Setting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6E339-F8E6-41C7-A925-B0B88FBA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181725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控制三情境回答格式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30515-5597-4DFA-BFA1-94D10775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9055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CD3B3-5D76-4425-843A-29BEA249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9817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Risk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DE011-B9A3-46AB-895D-0DF3DF24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181725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裁罰資料支撐同業對標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B11DC5-0168-4A41-BF7C-6BEB00AF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994539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D53BBC-62FE-4E69-BC93-7A15B49A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51F55-89E4-4C8D-942F-58466552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56AD8-6324-4BE8-9763-D9E9F005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結構化資料一：資料收集與處理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1249E-445D-413B-AE3F-357E6C29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GraphRAG 把法規知識變成可遍歷的推理鏈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6CA62-6A57-4F05-9D92-FDED6648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CB428-8F62-4634-8AD5-429BC201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資料來源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38C69-4796-4A31-B16F-002F1734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CD2DF-5C94-431E-BED0-AE16BDAC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859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取得方式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76EB2-370D-45F8-AA13-C222ACC4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54012-805D-4473-9F9D-822A0590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859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筆數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96DC5-42DF-4AC5-9E2E-D08D5035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7EB3B-9EC5-4E3C-908F-7D0EF9F7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85950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用途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1F6A5-D1A2-45C0-97D8-9D71B786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99614C-A416-424B-8C47-85ADB633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LBR 勞動部裁罰公告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DA6708-B59E-4EED-8B89-D97E899C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17DFE-BCAD-42D2-B0E2-2BA7E3D1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574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Python 爬蟲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070EFC-DF8D-4D2A-B4E6-52F2BDB1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FAFAA3-B83B-4472-B817-7B2645FF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32,111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9A074F-8058-406F-A03D-16D6D9FA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8125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0B7E66-1077-4A1A-B094-D5AFB6C5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工資、工時、資遣裁罰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251AE6-2316-4781-8493-4344AEE7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8C9252-4980-4EA6-A3CD-30FC643A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OSHA 職安署案例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01E6E8-09B8-498E-9A07-F0A8EB27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BE6D79-80D6-4A2C-A0DF-48ADC722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Python 爬蟲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307D6B-4037-43AB-B54D-838F7265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C506A-3105-40C8-A88F-68982ABC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5C3B1C-B6B6-4C3E-A971-78B7DBCD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01CB47-A9DD-4A08-BC89-42F64941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28950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職安案例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20A1C4-19EE-4EEC-A7C3-AA2AFE3E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FF9FFF-5C88-4EC4-8E66-429864F4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勞退條例裁罰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B0DAAB-0C15-4463-9628-B3B1B5AC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242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40B2AF-C31A-4F13-96CF-8D020F26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004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Open Data CSV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E182EB-3F07-495A-95B7-27BA8C92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28EE55-F94A-460E-84F4-845B64FE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04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9,427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A08865-E165-44F0-AC41-3CECC632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2425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A24139-3A3D-4293-B7DB-B6DA66D1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00450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勞退義務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CEB437-7A99-4ABF-8231-8F0CEEC3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09C986-60E0-435F-8FA2-D0241128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災保法裁罰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FAF123-9ACC-4D17-83DC-056B9662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2B5E37-B2B2-4999-BFC6-252FE77F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1719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Open Data CSV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0DB19F-3124-46FD-9942-8A747980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D4EB03-A36F-4320-B763-B0A2577B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16,483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91FB8D-8CA8-4C27-8EB2-A1B294B0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235DF2-70D0-4B78-93EE-BD3D5C7A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71950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災保行政義務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D38F7E-05B1-44E8-A020-AC3CDBF3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70B314-4D80-469A-9D07-A51E6DB0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合併清理版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343439-6804-4090-8519-114FF215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672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919B4C-1C06-4F94-A77F-1D54E27D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7434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自動化腳本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027BF0-57EA-47CC-8E8C-274EB158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672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2F9DFE-99AE-4731-9DB5-85076BEC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434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58,496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D8A4D7-B259-4098-BBB6-B6236081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A2854C-6986-4B82-BE1A-A344C015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43450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風險雷達與同業對標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7DCE78-8656-4D9D-911A-FE4A36F1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處理流程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80939D-6B85-488F-AD84-E3DE3055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CC8DCDB-E77C-43E2-A323-3D5005CF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955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多源採集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898590A-87AA-4673-B209-FC4C594F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289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6A14A3E-19F2-4380-A286-16DE84A8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432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格式標準化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955BD3-C9FE-47D1-97D4-6EC440E9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766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277978-B5E8-4EF1-8304-923CB141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90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關鍵字分類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FC60C36-6D1B-4088-A4E8-3F4D88EE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243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1BBEA76-8FAC-452F-B36C-D7705271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386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4. 精選 603 筆案例入圖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6DB820A-A809-4C71-9D8F-58E5E5C4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9720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3E4FB60-D59E-4FE4-89A5-6786A422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086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5. 匯入 GraphRAG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D67B30B-5E97-4908-A5F5-5959950B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242549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08518F-B0A6-4D80-91D2-75EA0E56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CAE16-BAA8-411E-9F8D-A6DEF461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0507D-1B45-4A05-8FB8-EC130D94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結構化資料二：知識圖譜建模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CCEE2-7468-4B6F-9920-9D4484E6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766 節點、2,410 邊、0 懸空邊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59159-3BB8-4C4D-8F11-F1828B99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2CC20-BBBD-4041-B5FF-03ED4BCE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0020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節點類型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67EE5-508B-4FC3-BAD4-6F3F7851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240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04C24-DD9A-465A-ABAF-12417539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0020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數量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24160-D0FE-49E4-B96A-E4EB4344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709DD-6B41-4A31-89D7-96DC0BCA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事故類型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5CCFF-0EAA-4EF0-8AAE-2E66CDE2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2DDF5-B81F-45F0-860C-259B7050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5265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511C1-4712-40AC-9F90-39EDA06F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5A787-C9E7-4CBE-BE92-2BE6261E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法規條文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67A6B4-C46C-4F1D-A109-988A5AFB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289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0BDE1-1CF7-4F8D-BBAF-E91EBA40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0510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522B3A-F11E-43DA-8A10-3CED3444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7B191-1330-497F-A1B4-5E1BDA89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企業義務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3EB55-18B2-48B0-BD47-98E9F05F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813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B82820-BAC3-4348-86AA-8AE6E0E0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5755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36FBCA-FD9C-4A36-88F8-3A2B2B45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A4455A-67E1-4BD2-AD47-80D851D4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勞工權益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1C5E8D-3C38-47AA-BC87-4402D50F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338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BF3545-E0A6-4DFB-ABDE-C349096A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1000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3FEE61-E687-40CF-8287-B89A6D4A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643037-E234-4852-B0A1-05A3594B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裁罰案例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4A3E4D-55D1-4775-9EC4-FB22A872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AD43F7-9C01-459F-AF17-D4138CD9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2B610F-5A49-47B1-B5AD-0B26005C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ED4BB8-754A-4227-A023-FEC9A647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工作情境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85225C-03AE-41F1-8C4D-46F41FCD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387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E6ABB2-5EF1-4736-971E-91305140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1490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2942DB-BAE2-4CE3-8A0F-9F123E13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2D0D48-9A54-4A75-8CEA-D1F84A91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其他 11 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D32F59-199B-4295-A65E-696D8C56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911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429529-37F5-4138-9F12-204AAF0B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46735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DB48C8-861D-4473-BE6C-B6C1C6FD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436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266D7D-2BDD-4F1C-B83F-C53BFF8D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1980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合計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935E65-B10F-4F67-A5B8-79714061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436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DC4162-9C79-4166-B1E9-CB254359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01980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766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074330-F9F3-4415-ABEF-31F84B25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240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6C8A9F-B20B-4048-91E4-EE9ADFBE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0020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關係群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850D41-49D0-4A5D-8353-DCD7202A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240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CA128C-D6E9-4405-906C-98A681E9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600200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關係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53355A-8218-4EB7-9B2F-F83E895A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240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851BC4-FDCA-4B30-9030-4B66EDA3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600200"/>
            <a:ext cx="80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邊數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C44C20-AFD2-480A-BEE9-D3A77A6D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24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524F91-47AA-4472-B3B8-57E9063D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60020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功能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4FA79A-8D6B-4078-BFEE-24863053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764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78370F-0491-4904-8363-63DBD25F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5265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核心義務 / 權益鏈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8760A59-2BCB-477C-8D50-8315FE0B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764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D47687-74D7-4861-9616-68B6073E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152650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R1–R5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341845-26CC-4DB2-B380-7A44C29B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764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3F04448-8DE6-40ED-B159-6AE15FB8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152650"/>
            <a:ext cx="80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206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5841CB8-9583-4F63-8FD1-8312AA14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76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4D31A2F-32DA-4B59-86F7-31FE969C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15265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事故→法規→義務/權益→文件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C0684D-9C77-46BA-BAC7-0CB9367D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289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B371FC-3A9C-45D6-81F5-C7366D59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70510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裁罰案例鏈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D856E3D-499F-4481-BDC5-DF4FA6F2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289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CF633CE-1335-4B78-85BB-57F5200A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705100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R6–R8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7846A5B-2CB7-4EE9-BD58-ADD35A4B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289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133EADE-38C7-4807-BBF3-1524C15F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05100"/>
            <a:ext cx="80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1,914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ACB22AF-54FF-4F90-822E-F2264D5B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28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2B64020-63E3-4C9E-B6EE-07E6A714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0510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產業→違規→案例→法條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B54FBF3-13D6-4F7D-8E0E-C2EE6B57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813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8604DD0-B1F7-4641-A998-8B6A3939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25755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刑事 / 民事責任鏈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6B4898C-95E1-41FE-8550-F1AD8E17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5376A24-C230-4BE8-B871-BB192F1C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257550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R9–R13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9C4421F-C4DB-4883-9FEF-27BFE0C4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813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5332575-81BF-42BD-8363-43E9956C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257550"/>
            <a:ext cx="80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8AAA5D9-DF26-4B9A-AEEE-02D40FF3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81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E5DEE97-9FD6-4650-8E81-57AE1175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25755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義務→刑責→負責人連帶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5D88E37-F7D0-4764-BBB1-DC7081AB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338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CE61717-21A5-4CBB-A9FD-AF796F58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1000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IT 工作情境鏈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F531BBE-D429-40DC-AA15-9FDE9A5E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338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708B28B-6B72-4CED-9CA1-89D36675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810000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R14–R20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4FF26D1-63E2-46B1-86CB-E23299E0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338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D5BF08A-27F7-48CE-8359-5E3FA3B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810000"/>
            <a:ext cx="80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214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5938260-C525-43E6-B95A-36A92772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33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8C84F4D-37CB-4EFE-A3A8-29410D65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81000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情境→事故→證據→任務→角色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A1E12A6-90BD-4C9E-9670-7A137C47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862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0B5168E-D69C-45AB-AB60-03C35F54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36245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風險雷達 / 罰則鏈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4316145-A9A5-4334-93AC-3512AF0A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862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67DCFA1-F65F-4E05-A15D-7844B6FC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62450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R21–R24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3C2790D-E22C-452A-B7AC-2AC57AC4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862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7E28406-3643-42F0-823B-BF14F105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362450"/>
            <a:ext cx="80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2E4921A-519C-4709-A6E0-97DA531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86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1887621-4CEE-4D59-8CD2-24B0EFC8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36245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違規→法條→罰則→受理單位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8433249-1FD1-4E7C-B2A7-7AA1C22E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8387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7DE0167-8D43-4C79-BF6A-F4D116E6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1490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合計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72DD076-643B-4740-A9F7-B8D9751B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387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D87C199-AE7F-4D90-BD1C-FEC06398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914900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24 種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4B7116C-2873-4907-A258-EDD039CE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387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F145166-F08E-4B90-8358-1BA40B1B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914900"/>
            <a:ext cx="80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2,410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14CB0D4-8177-4B04-97E5-2BB059F2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8387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3304447-7C27-4371-ADCB-EAAA3821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914900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 懸空邊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32FBEB8-9171-4FB2-BC8E-0C322A6E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953211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F81B1D-9A15-4C3E-AC51-F69EA3BE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A5D56-2EE2-4B53-A73C-902AA2F7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14E62-FD27-4146-87A9-3EAFA77B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非結構化資料：VectorRAG PDF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69814-6D14-4563-8D8D-0E02EF0E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簡報展示 15 份核心 PDF；後台完整上傳 32 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8B8B5-EF22-401D-9E8A-3936A88E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886CA-D4AB-4D8E-BE99-93E9E50A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43075"/>
            <a:ext cx="1371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類型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13A3C-2EE3-44AB-9347-1786861F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66875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A93A3-669F-485A-8F78-FAA4B49A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743075"/>
            <a:ext cx="7086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核心文件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2CF89-1321-4651-9E85-F511AC7D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666875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C4C4D-9D6E-45F6-B749-F886EB42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743075"/>
            <a:ext cx="2228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來源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19333-195B-4132-93A5-1E3BB34A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86025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3E730-2B15-43BC-A7E0-72308E7B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62225"/>
            <a:ext cx="1371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法規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F5E6D-3E6C-460E-88B4-AC2AD572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486025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D6E54-992C-4B5C-9931-6FD39EB7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562225"/>
            <a:ext cx="7086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勞基法、職安法、災保法、性平法、勞動事件法、大量解僱法、勞資爭議處理法、民法、刑法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41613-0EA2-4C82-9208-8A4F0620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86025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29E0F-B096-4E29-AD76-CEEB85E1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562225"/>
            <a:ext cx="2228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law.moj.gov.tw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1C502-F6A9-472D-848D-DE75C618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05175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26F7DF-0704-4093-A698-EFFEA641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81375"/>
            <a:ext cx="1371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給付指南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CBFB23-3F22-4BEC-9029-FFA0EAA8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05175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61C385-2D1D-4769-A574-F87CEF87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381375"/>
            <a:ext cx="7086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職災給付指南合輯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DB81C-D1FD-44C7-86BA-D3DD4027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05175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BC025C-8573-4572-B7B5-26580E10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381375"/>
            <a:ext cx="2228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bli.gov.tw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6FC92-7CED-49D2-BA16-C770D023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24325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EF2C80-DDF4-481F-BAE5-E4913DF3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00525"/>
            <a:ext cx="1371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職安指引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194A37-0C0A-4966-8994-23FBCD5B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24325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90BEA6-B7CA-48ED-A7F0-9067CEAD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200525"/>
            <a:ext cx="7086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不法侵害預防指引、異常工作負荷指引、腦心血管疾病認定參考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5B6E27-2BA2-4C53-BE2F-A77EC7E7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124325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C99B43-2A2B-4D86-BAAB-829991D5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200525"/>
            <a:ext cx="2228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osha.gov.tw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A06A6C-91CD-4DB8-9E14-16B0EEC1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43475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137D7A-F6C9-4AD0-8AE9-94358490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9675"/>
            <a:ext cx="1371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案例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58163-2958-4D1F-9CD5-1E322728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943475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2B47D2-7B57-4F0D-9F2D-33309F20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019675"/>
            <a:ext cx="7086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重大職災統計、職災判決摘要、案例彙編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9D3E47-9731-433D-9866-1A1C81DB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943475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01BF9A-29D7-4EB4-A7FB-B638B07B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5019675"/>
            <a:ext cx="2228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osha.gov.tw / 司法判決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2A16BC-5F71-4DE5-B539-91CDBE16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VectorRAG 用於語意檢索，讓 AI 回答口語問題時能引用官方原文。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BB06A4-7E19-4072-8F59-DD60668C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2771379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BEC959-FB61-451D-BCE9-00C69D74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4F818-9998-4430-8653-C215A27D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C81A5-268A-424E-8881-E180512F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模型設計：事故如何變成決策鏈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4B74A-A6F6-4C8D-A194-D193D879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直接使用既有 Graph 節點截圖，不重新生成流程圖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c7833b56447bd"/>
          <a:stretch xmlns:a="http://schemas.openxmlformats.org/drawingml/2006/main"/>
        </p:blipFill>
        <p:spPr>
          <a:xfrm xmlns:a="http://schemas.openxmlformats.org/drawingml/2006/main">
            <a:off x="1140071" y="1181100"/>
            <a:ext cx="9911859" cy="3829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C127B-DAB3-4E41-B092-9A1EC4DD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10782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DDF2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9F427-8C94-457A-81F0-79CF846E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05450"/>
            <a:ext cx="1019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核心鏈：工作情境 S → 事故 A → 法規 L → 企業義務 D / 勞工權益 B → 文件 DOC → 罰則 P / 刑責 CR / 民事賠償 CV</a:t>
            </a:r>
          </a:p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範例：S004 → A003 → L001/L002 → D002/D003 → DOC001/DOC003 → CR002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11615-AF03-4051-9F6D-35F15FFB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9702840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B95C67-916B-4416-B0B4-4EF460A6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BB480-BA7D-466C-9878-737F5D2A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9F136-72FC-432B-B95B-EE751946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Prompt Design 與 Context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4EB0A-707C-4C4B-9B64-A10A5C24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三類 Prompt 對應三種產品情境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93975-5172-425C-B6C7-8EEC2366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16F76-E86A-4385-B671-3C5A9062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應急導航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0C519-10B0-4FCC-B3C6-64FE1F6E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事故責任判定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法定義務查詢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雙面介面切換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01F33-4A07-4CE4-B1D1-07442466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2609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5FF"/>
          </a:solidFill>
          <a:ln xmlns:a="http://schemas.openxmlformats.org/drawingml/2006/main" w="9525">
            <a:solidFill>
              <a:srgbClr val="D6E5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BF9CC-BD04-44CD-A42A-4273E809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9925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工程師到客戶機房搬伺服器扭傷，誰負責？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61873-4B69-4D0E-B8BC-9D921153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CC6E4-7A8C-490C-AF81-6F01F58B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859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精準止損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F16D7-78FA-4FA2-B4C0-0D5D6AC9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資遣程序確認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舉證缺口分析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B767F-FAE0-45B6-91E1-827E7BE7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105150"/>
            <a:ext cx="2609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5FF"/>
          </a:solidFill>
          <a:ln xmlns:a="http://schemas.openxmlformats.org/drawingml/2006/main" w="9525">
            <a:solidFill>
              <a:srgbClr val="D6E5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8F7BA-907E-413A-A269-2ED0F9BA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09925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要資遣表現不佳的工程師，有哪些程序？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18EF5-F39D-4D79-8078-E684C5EF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04018-950E-4BE5-8455-FAE8A867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859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風險雷達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4E182-FB68-447B-9A0B-6B3EEDBE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同業對標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裁罰統計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3565E3-C914-4F86-836F-C16D542E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2609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5FF"/>
          </a:solidFill>
          <a:ln xmlns:a="http://schemas.openxmlformats.org/drawingml/2006/main" w="9525">
            <a:solidFill>
              <a:srgbClr val="D6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42B962-09D6-4D4A-B8CE-EBB889E7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9925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100 人 IT 公司常加班，主要違規風險是什麼？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91D12-E50C-4264-9CA8-7395CF3B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0382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208812-7895-4FC1-813B-8E0D851A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Robot Setting：繁體中文、台灣法規語境；先判斷使用場景；回答必須包含判定、義務、文件、罰則、風險；引用格式為法規名稱§條號；Cypher 使用 Neo4j v5，禁用 OVER()。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80C5D9-D1EA-4E60-9058-99355BAA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4555051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334733-D897-4A7B-A14B-38771BDD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1E35E-2005-4620-8BCB-1BBD91C6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F78BC-F341-440A-8C11-8B749D3B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API 與介面雛形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10C91-7BED-4875-89CE-B5285A58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直接使用既有深色 UI 截圖，不重新生成介面圖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b18c9440546f1"/>
          <a:stretch xmlns:a="http://schemas.openxmlformats.org/drawingml/2006/main"/>
        </p:blipFill>
        <p:spPr>
          <a:xfrm xmlns:a="http://schemas.openxmlformats.org/drawingml/2006/main">
            <a:off x="674999" y="1352550"/>
            <a:ext cx="8175002" cy="3762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380CC-2878-4BD5-ABCD-1CF96016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22383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7E59F-34BC-4A46-93C5-F3BA9258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573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核心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06EA6-7D78-4A4D-B3C3-8DA89D7E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526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E3D6C-8ABB-45DB-8E03-3A39F146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52650"/>
            <a:ext cx="1438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POST /chat/create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9B96F-31A5-4B89-9A3E-012A7E87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003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AAD53-5453-42A8-A78D-1E710610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00325"/>
            <a:ext cx="1438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POST /chat/{id}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FD140-1412-4BB6-9403-E87B87F3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480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0A291-ECB7-4CE7-84AC-1A6030E8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48000"/>
            <a:ext cx="1438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GET /chat/{id}/messages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B70F2-E7BC-40AB-BF89-A905B848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147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介面功能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61DE8-E325-4318-B2A7-19A1FB78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433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01DAD4-5A29-4E01-8753-F807A4DA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143375"/>
            <a:ext cx="1438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身份切換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FFCD9-D7ED-44A1-BBC6-948A3200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291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FDF5EE-D591-4B28-9F77-75E0F3DD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29125"/>
            <a:ext cx="1438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情境選擇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C71F5D-BDE6-48F7-B01F-7A2B148A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148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C55076-C50D-4F69-A009-C9FD038B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714875"/>
            <a:ext cx="1438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結構化回答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7D654E-35E5-4AB6-AF77-8FD48901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0006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CC60FB-614A-4C7C-8939-A0D3898C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000625"/>
            <a:ext cx="1438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GraphRAG 路徑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A3A7F3-A319-44CF-BADA-E3F35063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6079587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0819E8-8FB7-4D96-8DFE-BA81B73D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C21E4-3594-464E-9F75-78AB1716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36241-FA5D-4BB9-8265-6A690BC9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Demo 1：應急導航，駐點工程師機房搬運受傷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A28C2-1A59-433C-8D81-722F48A0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478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C8F51-35E2-4867-91DD-4D11ED11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526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EAP QA 畫面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5BE3C-BA27-489B-B719-0F0B820F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4238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D9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1A493-ADD7-41DA-88F7-71AF6D24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71725"/>
            <a:ext cx="385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我是 IT 公司人資。工程師到客戶機房支援維修，搬伺服器時扭傷腰送醫。客戶說現場由我們公司管，我們說是客戶指揮。這算職災嗎？誰要負責？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65B81-0F70-465A-B96A-0A3E7A1B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4238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2"/>
          </a:solidFill>
          <a:ln xmlns:a="http://schemas.openxmlformats.org/drawingml/2006/main" w="9525">
            <a:solidFill>
              <a:srgbClr val="2B34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9230C-13ED-4D80-BB3E-FD1119A3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此區可在 Canva 中替換為實際平台 QA 截圖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273C7-3918-4F4D-9836-1324B6E4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47800"/>
            <a:ext cx="5334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73D60-A115-4257-A5C1-4813BFC7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AI 回答重點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066E2-B98B-43DF-9E6B-EF343036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CDB0C-021F-4309-9931-BC8E161F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05050"/>
            <a:ext cx="4248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S004 → A003，職災成立初判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A0016-0EFF-4DBB-B2F3-BC2B2604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765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58E14-BCAE-43FD-B7B9-DBB5EDDD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76525"/>
            <a:ext cx="4248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勞基法§59 補償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104B3-DB2A-4C18-B672-A78122FF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7396B-BEF7-4C49-ADB5-D83A97F0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8000"/>
            <a:ext cx="4248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勞基法§63-1 連帶責任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4F251D-64C8-4E7F-8C11-35DF81F9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194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AED8A-20AB-4B6F-B549-F3B8FA39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19475"/>
            <a:ext cx="4248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文件：派工單、門禁紀錄、合約、診斷證明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DDBDB-D55B-41C1-9DA7-69ADF3BF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E8183F-A2E2-4051-A4F2-A6059ED3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90950"/>
            <a:ext cx="4248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風險：業務過失傷害、民事賠償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F668C2-73F5-472F-A5C5-36ADD4B2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9525">
            <a:solidFill>
              <a:srgbClr val="E6F7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D9CA21-643F-4B47-9A29-7D1D0CF0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81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S004 → A003 → L001/L002 → D002/D003 → DOC001/DOC003 → CR002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D95CFE-396C-4BA8-A8C4-78F322B6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9304422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EF9A0E-C419-4D5B-9225-CC5EEC84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73A0C-4955-4EE2-A7D8-043E0AF7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1E885-4EEB-4EC3-8EB0-30561B8C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Demo 2：精準止損，資遣程序合規確認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2E76E-D712-4A5E-8F1D-BE723890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478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28897-3CFD-4A8A-831E-7B8F9040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526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EAP QA 畫面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B4D0A-2366-4041-B7A3-5268DB3A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4238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D9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328C6-0EE9-4223-90CF-E41A7082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71725"/>
            <a:ext cx="385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我要資遣表現不佳的工程師，有哪些程序？期限是什麼？不照做會怎樣？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77084-7AA1-4A22-9179-4BF920FA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4238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2"/>
          </a:solidFill>
          <a:ln xmlns:a="http://schemas.openxmlformats.org/drawingml/2006/main" w="9525">
            <a:solidFill>
              <a:srgbClr val="2B34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ED6CA-7BF4-44E7-882D-2C1D1E4A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此區可在 Canva 中替換為實際平台 QA 截圖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97C18-D81A-42DE-9BDC-7B1DC431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47800"/>
            <a:ext cx="5334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3D21D-7FA1-4BB7-8DCB-C96A1124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AI 回答重點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6E17D-F6DB-4B79-8819-7D67E709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0BA49-9F64-4D4E-847F-6BE20279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05050"/>
            <a:ext cx="4248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確認資遣理由、預告期、資遣費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D36B2-48EE-4181-B617-69BA28DA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765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71B22-A563-4EEC-81F9-5C69A086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76525"/>
            <a:ext cx="4248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非自願離職證明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5E014-7872-4A18-9962-DE9BF20C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27972-7C9B-4DFB-BC0A-58F38EE7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8000"/>
            <a:ext cx="4248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工資 / 出勤 / 績效紀錄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6C9257-4093-413D-A816-6E5D02E8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194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48B320-F97E-4C6B-A939-830B0DF9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19475"/>
            <a:ext cx="4248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勞動事件法§37 工資推定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E302FB-E988-4C5E-9FC7-7BA49A64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9A4CE6-731D-456C-AE62-9267C5DE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90950"/>
            <a:ext cx="4248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大量解僱需 60 日前計畫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E701D4-3D5E-4B6D-B0D5-91AA2940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9525">
            <a:solidFill>
              <a:srgbClr val="E6F7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9441BC-358D-4456-8A6F-A6AFEA63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81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S008 → A006 → L023/L024/L025 → D009–D011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C8AD6D-AA73-4BAB-A7D2-830447B4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481536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2B1A81-3317-400E-8579-C3E44D31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E1131-6E8B-4597-9195-D9F47CA0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819D3-6DA0-4137-9ED0-6D3B66BD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Demo 3：法規風險雷達，100 人 IT 公司同業對標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E93B8-CF8C-4C3D-922E-AEAA4102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4780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3A0AF-5229-4051-A084-31667A42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526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EAP QA 畫面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FBF51-2EBC-4FA5-80E5-574D982C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4238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D9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1193D-0E2C-41B5-B722-0AD93208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71725"/>
            <a:ext cx="385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我們是 100 人 IT 公司，常有加班，評估主要違規風險。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650CF-7BED-42C9-8944-7CEC5D19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4238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2"/>
          </a:solidFill>
          <a:ln xmlns:a="http://schemas.openxmlformats.org/drawingml/2006/main" w="9525">
            <a:solidFill>
              <a:srgbClr val="2B34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CC3CC-6E7B-4608-B1F2-06D66A75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此區可在 Canva 中替換為實際平台 QA 截圖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76CF5-F2DF-49CA-AA9F-D30F3AEB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47800"/>
            <a:ext cx="5334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FDF97-05F6-4651-AB2C-ED9C2651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AI 回答重點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4B230-C8BA-4337-AD9D-F09B0A3B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F8C26-743B-4038-9220-5D8BFBD3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05050"/>
            <a:ext cx="4248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工資給付、加班費、工時紀錄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9615D-E949-472C-BB66-5A447FA3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765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6E76D-A8B0-4F70-B34A-D3123077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76525"/>
            <a:ext cx="4248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災保法行政義務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D7B1BE-FD6E-4590-9BE8-E86F1825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758E1-A1FE-4574-A1D0-70287648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8000"/>
            <a:ext cx="4248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資訊服務業工資工時裁罰 2,363 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C5227-A82A-4BAC-9D20-FF74E531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194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81810C-E410-40FC-B0AE-88FD620B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19475"/>
            <a:ext cx="4248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災保法裁罰 687 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B23450-9D4E-4D3C-8E04-21134E26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6D1683-AE20-4A90-A062-FDC9C6F5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90950"/>
            <a:ext cx="4248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建議：先補出勤紀錄、加班核准、on-call 工時規則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63CA25-0B09-4F22-AAD2-E4F3D520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9525">
            <a:solidFill>
              <a:srgbClr val="E6F7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89162B-929B-448B-A2F0-FFD478E6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81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IND_08 → VP → L → D / DOC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8BE752-F66E-4C10-8234-C6D6D8B9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9253127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1A6728-5E29-44D3-89D0-FBD09342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458BA-5423-46C0-B2BF-0CAF6201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BB56B-B756-40D8-94C5-1FC9648D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Demo 4：雙面介面，同一事故 HR 與勞工不同輸出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B081C-053F-4FEA-9FFC-22D07474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1038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63F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63F6"/>
                </a:solidFill>
                <a:latin typeface="Aptos"/>
                <a:ea typeface="Aptos"/>
                <a:cs typeface="Aptos"/>
              </a:rPr>
              <a:t>同一事故：工程師去客戶端開會途中發生車禍，現在住院。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87313-67F9-47E9-81B8-3B22D1AB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3A525-A9A7-45B5-B971-155885D2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28825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HR 端輸出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81E23-595D-4F52-B990-0B7F0C4B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307E5-D627-49FE-97FC-3D93955D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28825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勞工端輸出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F86FE-5A62-4860-8747-52AE2029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81275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76BA5-6747-4512-9411-0B1C44C3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57475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判斷通勤 / 公出 / 職災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F15DD-3E0A-4201-AD21-E7973540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81275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79618-39F7-4085-9DBA-538C8A96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57475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可申請傷病給付、醫療給付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5B1E7-56FC-4BA9-8512-7B480E36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9925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D41A7-9F1E-4D86-BC3B-7F91E04D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86125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公司補償與通報義務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C3446-A5B0-41F7-943C-F3D510BF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09925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A5510-16D5-404E-93C1-465B88E9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86125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失能或照護給付可能性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B338FF-68AB-4608-95C1-A4A35D96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38575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3BA20A-8A64-40C0-B25B-863B0CC9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14775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應備證據與文件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156BF-F22C-478F-A840-D1805FE7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38575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817971-9970-40E4-A436-0FC4AC69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14775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診斷證明、事故證明、薪資資料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1EC439-2528-4905-9964-9C5C72CF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67225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EE6486-95AF-4BC0-AA84-06A82B1E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43425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罰則與責任邊界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5E4000-9930-40C6-B2B8-DC2243F3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67225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65759A-83F1-40A0-8162-BCA15E52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43425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受理單位：勞保局 / 勞工局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706AE7-FDCA-471B-9F6B-9827FA7E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7D4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F7D46"/>
                </a:solidFill>
                <a:latin typeface="Aptos"/>
                <a:ea typeface="Aptos"/>
                <a:cs typeface="Aptos"/>
              </a:rPr>
              <a:t>核心展示：同一知識庫、同一事故，GraphRAG 依身份走不同決策路徑。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56EBB7-23F8-4DC9-962C-0705E6F1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6B1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6B1C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42680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2026-05-09T15:30:24.1420000Z</dcterms:created>
  <dcterms:modified xsi:type="dcterms:W3CDTF">2026-05-09T15:30:24.1420000Z</dcterms:modified>
</coreProperties>
</file>